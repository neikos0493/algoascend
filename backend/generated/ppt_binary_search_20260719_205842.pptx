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316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DC8FF"/>
                </a:solidFill>
              </a:defRPr>
            </a:pPr>
            <a:r>
              <a:t>binary 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316736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600"/>
              </a:spcAft>
              <a:defRPr sz="1600">
                <a:solidFill>
                  <a:srgbClr val="E8E8F0"/>
                </a:solidFill>
              </a:defRPr>
            </a:pPr>
            <a:r>
              <a:t>深入理解binary search的核心原理与应用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600">
                <a:solidFill>
                  <a:srgbClr val="E8E8F0"/>
                </a:solidFill>
              </a:defRPr>
            </a:pPr>
            <a:r>
              <a:t>本课件将系统讲解binary search的核心概念、底层原理与典型应用场景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600">
                <a:solidFill>
                  <a:srgbClr val="E8E8F0"/>
                </a:solidFill>
              </a:defRPr>
            </a:pPr>
            <a:r>
              <a:t>通过循序渐进的讲解,帮助你从零基础到熟练掌握binary search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600">
                <a:solidFill>
                  <a:srgbClr val="E8E8F0"/>
                </a:solidFill>
              </a:defRPr>
            </a:pPr>
            <a:r>
              <a:t>涵盖理论推导、代码实现和实际案例分析三大维度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600">
                <a:solidFill>
                  <a:srgbClr val="E8E8F0"/>
                </a:solidFill>
              </a:defRPr>
            </a:pPr>
            <a:r>
              <a:t>适合有一定编程基础的算法学习者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0" y="7680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AlgoAscend AI  ·  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316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DC8FF"/>
                </a:solidFill>
              </a:defRPr>
            </a:pPr>
            <a:r>
              <a:t>背景与动机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316736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600"/>
              </a:spcAft>
              <a:defRPr sz="1600">
                <a:solidFill>
                  <a:srgbClr val="E8E8F0"/>
                </a:solidFill>
              </a:defRPr>
            </a:pPr>
            <a:r>
              <a:t>理解binary search产生的历史背景和要解决的实际问题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600">
                <a:solidFill>
                  <a:srgbClr val="E8E8F0"/>
                </a:solidFill>
              </a:defRPr>
            </a:pPr>
            <a:r>
              <a:t>分析朴素解法的时间/空间复杂度瓶颈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600">
                <a:solidFill>
                  <a:srgbClr val="E8E8F0"/>
                </a:solidFill>
              </a:defRPr>
            </a:pPr>
            <a:r>
              <a:t>为什么需要binary search来优化解法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600">
                <a:solidFill>
                  <a:srgbClr val="E8E8F0"/>
                </a:solidFill>
              </a:defRPr>
            </a:pPr>
            <a:r>
              <a:t>该算法在计算机科学领域中的重要地位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0" y="7680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AlgoAscend AI  ·  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316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DC8FF"/>
                </a:solidFill>
              </a:defRPr>
            </a:pPr>
            <a:r>
              <a:t>核心概念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316736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600"/>
              </a:spcAft>
              <a:defRPr sz="1600">
                <a:solidFill>
                  <a:srgbClr val="E8E8F0"/>
                </a:solidFill>
              </a:defRPr>
            </a:pPr>
            <a:r>
              <a:t>binary search的基本定义和数学表述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600">
                <a:solidFill>
                  <a:srgbClr val="E8E8F0"/>
                </a:solidFill>
              </a:defRPr>
            </a:pPr>
            <a:r>
              <a:t>核心数据结构和关键变量说明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600">
                <a:solidFill>
                  <a:srgbClr val="E8E8F0"/>
                </a:solidFill>
              </a:defRPr>
            </a:pPr>
            <a:r>
              <a:t>算法执行的前提条件和边界情况处理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600">
                <a:solidFill>
                  <a:srgbClr val="E8E8F0"/>
                </a:solidFill>
              </a:defRPr>
            </a:pPr>
            <a:r>
              <a:t>与相关算法的对比关系和适用场景区别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0" y="7680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AlgoAscend AI  ·  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316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DC8FF"/>
                </a:solidFill>
              </a:defRPr>
            </a:pPr>
            <a:r>
              <a:t>算法原理与步骤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316736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600"/>
              </a:spcAft>
              <a:defRPr sz="1600">
                <a:solidFill>
                  <a:srgbClr val="E8E8F0"/>
                </a:solidFill>
              </a:defRPr>
            </a:pPr>
            <a:r>
              <a:t>将算法拆解为清晰的执行步骤并进行逐一说明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600">
                <a:solidFill>
                  <a:srgbClr val="E8E8F0"/>
                </a:solidFill>
              </a:defRPr>
            </a:pPr>
            <a:r>
              <a:t>使用具体的数据示例配合图示追踪算法运行过程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600">
                <a:solidFill>
                  <a:srgbClr val="E8E8F0"/>
                </a:solidFill>
              </a:defRPr>
            </a:pPr>
            <a:r>
              <a:t>时间复杂度和空间复杂度的推导过程与分析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600">
                <a:solidFill>
                  <a:srgbClr val="E8E8F0"/>
                </a:solidFill>
              </a:defRPr>
            </a:pPr>
            <a:r>
              <a:t>关键步骤的正确性证明思路（循环不变式/归纳法）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0" y="7680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AlgoAscend AI  ·  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316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DC8FF"/>
                </a:solidFill>
              </a:defRPr>
            </a:pPr>
            <a:r>
              <a:t>代码实现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316736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600"/>
              </a:spcAft>
              <a:defRPr sz="1600">
                <a:solidFill>
                  <a:srgbClr val="E8E8F0"/>
                </a:solidFill>
              </a:defRPr>
            </a:pPr>
            <a:r>
              <a:t>给出完整的可运行代码实现（C++/Python）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600">
                <a:solidFill>
                  <a:srgbClr val="E8E8F0"/>
                </a:solidFill>
              </a:defRPr>
            </a:pPr>
            <a:r>
              <a:t>逐段解释代码的关键逻辑和设计考量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600">
                <a:solidFill>
                  <a:srgbClr val="E8E8F0"/>
                </a:solidFill>
              </a:defRPr>
            </a:pPr>
            <a:r>
              <a:t>分析边界条件处理和常见 bug 陷阱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600">
                <a:solidFill>
                  <a:srgbClr val="E8E8F0"/>
                </a:solidFill>
              </a:defRPr>
            </a:pPr>
            <a:r>
              <a:t>提供测试用例验证代码正确性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0" y="7680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AlgoAscend AI  ·  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316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DC8FF"/>
                </a:solidFill>
              </a:defRPr>
            </a:pPr>
            <a:r>
              <a:t>典型应用与变体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316736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600"/>
              </a:spcAft>
              <a:defRPr sz="1600">
                <a:solidFill>
                  <a:srgbClr val="E8E8F0"/>
                </a:solidFill>
              </a:defRPr>
            </a:pPr>
            <a:r>
              <a:t>列举 3-5 个实际应用场景和对应题目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600">
                <a:solidFill>
                  <a:srgbClr val="E8E8F0"/>
                </a:solidFill>
              </a:defRPr>
            </a:pPr>
            <a:r>
              <a:t>分析每个应用如何转化为该算法问题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600">
                <a:solidFill>
                  <a:srgbClr val="E8E8F0"/>
                </a:solidFill>
              </a:defRPr>
            </a:pPr>
            <a:r>
              <a:t>介绍算法的常见变体和扩展方向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600">
                <a:solidFill>
                  <a:srgbClr val="E8E8F0"/>
                </a:solidFill>
              </a:defRPr>
            </a:pPr>
            <a:r>
              <a:t>讨论在不同约束条件下的策略调整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0" y="7680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AlgoAscend AI  ·  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316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DC8FF"/>
                </a:solidFill>
              </a:defRPr>
            </a:pPr>
            <a:r>
              <a:t>总结与回顾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316736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600"/>
              </a:spcAft>
              <a:defRPr sz="1600">
                <a:solidFill>
                  <a:srgbClr val="E8E8F0"/>
                </a:solidFill>
              </a:defRPr>
            </a:pPr>
            <a:r>
              <a:t>回顾本课件的核心知识点和学习路径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600">
                <a:solidFill>
                  <a:srgbClr val="E8E8F0"/>
                </a:solidFill>
              </a:defRPr>
            </a:pPr>
            <a:r>
              <a:t>总结常见的易错点和面试考察要点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600">
                <a:solidFill>
                  <a:srgbClr val="E8E8F0"/>
                </a:solidFill>
              </a:defRPr>
            </a:pPr>
            <a:r>
              <a:t>推荐进一步学习的相关主题和资源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600">
                <a:solidFill>
                  <a:srgbClr val="E8E8F0"/>
                </a:solidFill>
              </a:defRPr>
            </a:pPr>
            <a:r>
              <a:t>从该算法延伸到更广阔的知识体系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0" y="7680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</a:defRPr>
            </a:pPr>
            <a:r>
              <a:t>AlgoAscend AI  ·  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