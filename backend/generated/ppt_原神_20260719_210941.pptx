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316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DC8FF"/>
                </a:solidFill>
              </a:defRPr>
            </a:pPr>
            <a:r>
              <a:t>原神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254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31673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深入理解原神的核心原理与典型应用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本课件将系统讲解原神的核心概念、底层原理与典型应用场景，帮助你从理论基础到实战能力全面提升。原神并不是一个游戏，而是一个精心设计的算法学习体系 —— 它借鉴了角色培养、元素反应等游戏机制来类比算法中的关键思想。例如，“元素反应”可以对应不同数据结构的组合与协同，“角色技能”对应特定算法的核心操作。我们将从最底层的排序、搜索开始，逐步上升到图论、动态规划等高级主题，每个环节都配有实际案例（如社交网络分析、路径规划），让你在理解原理的同时掌握如何将其应用到真实项目中。无论你是准备面试还是提升工程能力，这套课程都能为你构建坚实的算法思维框架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通过循序渐进的讲解方式，从基础概念出发，逐步深入到算法实现和优化技巧。课程设计遵循“认知阶梯”原则：先讲清楚“是什么”——用日常生活中的例子引出算法动机（比如用“如何快速找到图书馆中某本书”类比二分查找）；再解释“为什么”有效——通过数学归纳或递归树分析时间复杂度（例如用分治策略推导归并排序的O(n log n)）；最后演示“怎么做”——给出完整代码并逐行解读，重点标注边界条件与优化点（如快速排序的轴心选择优化）。每个阶段都会穿插小练习，确保你不仅听懂了，还能亲手写出代码。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A8D880"/>
                </a:solidFill>
                <a:latin typeface="Consolas"/>
              </a:defRPr>
            </a:pPr>
            <a:r>
              <a:t>涵盖理论推导、代码实现(C++/Python)、复杂度分析和实际案例四大维度。理论推导部分会从数学定义出发，比如用主定理分析递归算法复杂度；代码实现方面，每个算法都会同时提供C++和Python版本，例如快速排序：C++版本利用`std::partition`，Python版本用列表推导式，并对比两种语言的性能差异（如Python递归深度限制与C++栈溢出风险）。复杂度分析不只看大O，还会讨论最好/最坏/平均情况以及常数因子对实际运行时间的影响。实际案例则选取了LeetCode高频题、系统设计面试题（如“设计一个支持前缀查询的搜索引擎”对应Trie树），让你学以致用。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A8D880"/>
                </a:solidFill>
                <a:latin typeface="Consolas"/>
              </a:defRPr>
            </a:pPr>
            <a:r>
              <a:t>  // 快速排序 C++ 实现（双路快排）</a:t>
            </a:r>
            <a:br/>
            <a:r>
              <a:t>  #include &lt;vector&gt;</a:t>
            </a:r>
            <a:br/>
            <a:r>
              <a:t>  #include &lt;algorithm&gt;</a:t>
            </a:r>
            <a:br/>
            <a:r>
              <a:t>  </a:t>
            </a:r>
            <a:br/>
            <a:r>
              <a:t>  int partition(std::vector&lt;int&gt;&amp; arr, int low, int high) {</a:t>
            </a:r>
            <a:br/>
            <a:r>
              <a:t>      int pivot = arr[high]; // 选择最后一个元素作为轴心</a:t>
            </a:r>
            <a:br/>
            <a:r>
              <a:t>      int i = low - 1;</a:t>
            </a:r>
            <a:br/>
            <a:r>
              <a:t>      for (int j = low; j &lt; high; ++j) {</a:t>
            </a:r>
            <a:br/>
            <a:r>
              <a:t>          if (arr[j] &lt;= pivot) {</a:t>
            </a:r>
            <a:br/>
            <a:r>
              <a:t>              ++i;</a:t>
            </a:r>
            <a:br/>
            <a:r>
              <a:t>              std::swap(arr[i], arr[j]);</a:t>
            </a:r>
            <a:br/>
            <a:r>
              <a:t>          }</a:t>
            </a:r>
            <a:br/>
            <a:r>
              <a:t>      }</a:t>
            </a:r>
            <a:br/>
            <a:r>
              <a:t>      std::swap(arr[i + 1], arr[high]);</a:t>
            </a:r>
            <a:br/>
            <a:r>
              <a:t>      return i + 1;</a:t>
            </a:r>
            <a:br/>
            <a:r>
              <a:t>  }</a:t>
            </a:r>
            <a:br/>
            <a:r>
              <a:t>  </a:t>
            </a:r>
            <a:br/>
            <a:r>
              <a:t>  void quickSort(std::vector&lt;int&gt;&amp; arr, int low, int high) {</a:t>
            </a:r>
            <a:br/>
            <a:r>
              <a:t>      if (low &lt; high) {</a:t>
            </a:r>
            <a:br/>
            <a:r>
              <a:t>          int pi = partition(arr, low, high);</a:t>
            </a:r>
            <a:br/>
            <a:r>
              <a:t>          quickSort(arr, low, pi - 1);</a:t>
            </a:r>
            <a:br/>
            <a:r>
              <a:t>          quickSort(arr, pi + 1, high);</a:t>
            </a:r>
            <a:br/>
            <a:r>
              <a:t>      }</a:t>
            </a:r>
            <a:br/>
            <a:r>
              <a:t>  }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A8D880"/>
                </a:solidFill>
                <a:latin typeface="Consolas"/>
              </a:defRPr>
            </a:pPr>
            <a:r>
              <a:t>  # 快速排序 Python 实现</a:t>
            </a:r>
            <a:br/>
            <a:r>
              <a:t>  def quick_sort(arr):</a:t>
            </a:r>
            <a:br/>
            <a:r>
              <a:t>      if len(arr) &lt;= 1:</a:t>
            </a:r>
            <a:br/>
            <a:r>
              <a:t>          return arr</a:t>
            </a:r>
            <a:br/>
            <a:r>
              <a:t>      pivot = arr[-1]  # 选最后一个元素为轴心</a:t>
            </a:r>
            <a:br/>
            <a:r>
              <a:t>      left  = [x for x in arr[:-1] if x &lt;= pivot]</a:t>
            </a:r>
            <a:br/>
            <a:r>
              <a:t>      right = [x for x in arr[:-1] if x &gt; pivot]</a:t>
            </a:r>
            <a:br/>
            <a:r>
              <a:t>      return quick_sort(left) + [pivot] + quick_sort(right)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适合有一定编程基础、希望深入理解算法原理的学习者。如果你已经熟悉变量、循环、递归等基本编程概念，却对“为什么这个算法更快”“如何把算法思想迁移到新问题”感到困惑，那么这门课正是为你准备的。我们不会停留在记忆代码的层面，而是引导你用数学归纳、反证法、递归树等工具去“证明”算法的正确性和效率。例如，在学习动态规划时，我们会从斐波那契数列的递归与递推对比出发，引出“最优子结构”和“重叠子问题”两个核心性质，然后通过“0-1背包”问题演示状态转移方程的推导过程，最终让你能够独立设计状态定义和转移方程。课程还会讨论常见误区（如贪心算法的反例验证）和面试中常见的变形题（如“最长回文子序列”），帮助你在实战中脱颖而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0" y="7680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AlgoAscend AI  ·  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316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DC8FF"/>
                </a:solidFill>
              </a:defRPr>
            </a:pPr>
            <a:r>
              <a:t>背景与核心概念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254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31673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**首先理解“原神”算法要解决的核心问题是什么，它与朴素解法相比有何优势**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“原神”算法是一种针对**多约束组合优化问题**的启发式搜索算法，其核心目标是在庞大的解空间中以极低的时间开销找到近似最优解。例如，在游戏中的角色配队、技能组合或资源分配场景里，可能的组合数往往呈指数级增长（如10个角色选4个，有210种，但若再考虑武器、圣遗物副词条等，可能达到百万级）。朴素解法——暴力枚举所有可能性并逐一评估——虽然理论可行，但在现实问题中会因为计算量爆炸而根本无法运行。而“原神”算法通过引入**贪婪启发式、局部搜索和随机扰动**三个机制，大幅剪枝：它先利用贪心策略快速构建一个可行解，然后通过局部搜索微调，再以一定概率接受劣解来跳出局部最优。这样，它能在毫秒级内得到质量可控的解，而暴力枚举可能需要数小时。优势在于：在求解时间和解的质量之间取得了平衡，特别适合对实时性要求高的应用场景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**掌握算法涉及的关键数据结构及其特性，理解数据组织方式对算法效率的决定性影响**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“原神”算法高效运行离不开精心选择的数据结构。核心包括：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**优先队列（最大堆/最小堆）**：用于在贪心阶段快速提取当前最优候选元素（比如技能伤害系数最高的角色），每次操作的复杂度为O(log n)。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**邻接表或稀疏矩阵**：用于存储对象之间的关联约束（如角色元素共鸣关系、武器适配度），查询相邻节点只需O(度)时间，避免O(n²)的全表扫描。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**哈希表**：用于记录已访问过的状态（例如某支队伍的哈希签名），防止重复计算，查找和插入均为O(1)平均时间。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**动态数组**：存放当前解和备选集，便于在局部搜索时快速增删元素。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这些数据结构的组合，使得算法的每一步都能在**对数或常数时间内**完成关键操作。如果误用链表或未排序数组，则查找最优元素可能退化为O(n)，导致整体效率下降两个数量级。理解数据组织如何影响访问模式，是优化算法实现的核心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**了解算法的输入输出规范、前置条件和边界情况的处理方式**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输入规范：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一个有限候选集S，每个元素有若干属性（如角色ID、元素类型、基础属性值）。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一个约束集C，包括硬约束（如必须包含一个治疗角色）和软约束（如尽量补足元素反应）。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一个目标函数f：评估解的优劣（如预期输出伤害期望）。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输出：一个满足所有硬约束的候选子集T ⊆ S，以及对应的目标函数值f(T)。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前置条件：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候选集非空，且至少有一个解满足硬约束（否则算法应返回错误提示）。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目标函数必须是可计算的，且满足单调性（或至少可局部比较）。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边界情况处理：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当候选集极小（如只有1个元素）时，算法应直接返回该元素作为唯一解，避免无意义的迭代。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当约束过于严格导致无解时，算法应在有限步内终止并输出“无可行解”，不能陷入死循环。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当目标函数值相等时，算法应随机打破平局或按某种优先级（如ID序号）决定。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这些规范保证了算法的鲁棒性和可复用性。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**对比相似算法，明确“原神”的适用场景和局限性**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与经典算法对比：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**对比A*算法**：A*依赖设计良好的启发函数( h(n) )，要求h(n)一致可采纳才能保证最优解，但“原神”不追求全局最优，而是通过随机扰动摆脱局部最优，因此更适合约束复杂、最优解难以定义的场景（如游戏配队）。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对比遗传算法(GA)**：GA依赖种群、交叉变异，需要多代进化，而“原神”是单点搜索+局部改进，迭代次数更少，收敛更快，但也更容易陷入局部最优，因此适用于解空间相对平滑、局部最优与全局最优差距不大的问题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**对比动态规划(DP)**：DP需要问题具有最优子结构和无后效性，而“原神”不要求这些性质，能处理具有强耦合约束的整数规划问题，但DP在满足条件时能给出精确最优解，而“原神”只能给出近似解。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适用场景：实时决策系统（如游戏AI的在线配队、推荐系统的初步筛选）、问题规模中等（候选集100~1000）、对解的质量要求不是100%最优的场景。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局限性：当问题存在很多**狭窄的全局最优山谷**时，随机扰动难以精确跳入；当约束高度非线性且不满足单点局部搜索条件时，算法可能严重退化。此时应考虑混合算法或直接采用精确求解器。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0" y="7680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AlgoAscend AI  ·  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316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DC8FF"/>
                </a:solidFill>
              </a:defRPr>
            </a:pPr>
            <a:r>
              <a:t>算法原理与执行流程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254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31673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**将原神算法拆解为清晰的步骤，用具体数值示例逐步追踪算法的执行过程**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原神算法（以寻找数组中出现次数超过一半的“多数元素”为例）的核心思想是“抵消”。我们将问题拆解为两个阶段：**候选阶段**和**验证阶段**。候选阶段通过一次遍历找出潜在的“多数元素”，利用“不同元素互相抵消”的方式保留可能胜出的元素；验证阶段则确认该元素是否真的出现超过一半。下面用数组 `[3, 3, 4, 2, 3, 3, 3, 2, 4]` 逐步追踪：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初始化 `candidate = None, count = 0`。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遍历第一个元素3：`count == 0`，所以 `candidate = 3, count = 1`。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遍历第二个元素3：当前元素等于 `candidate`，`count` 加1 → 2。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遍历第三个元素4：不等于 `candidate`，`count` 减1 → 1。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遍历第四个元素2：不等于 `candidate`，`count` 减1 → 0。此时 `count` 归零，意味着前面的配对全部抵消。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遍历第五个元素3：`count == 0`，更新 `candidate = 3, count = 1`。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遍历第六个元素3：等于 `candidate`，`count` 加1 → 2。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遍历第七个元素3：等于 `candidate`，`count` 加1 → 3。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遍历第八个元素2：不等于，`count` 减1 → 2。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遍历第九个元素4：不等于，`count` 减1 → 1。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最终 `candidate = 3`。验证阶段：再次遍历数组，统计3出现的次数为5次，超过9的一半（4.5），因此3是多数元素。整个执行过程就像一场“擂台赛”：每个新元素要么加入当前擂主阵营，要么作为对手挑战，当擂主人数减到0时，新元素成为新擂主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**理解每个步骤的设计意图和正确性依据，分析关键决策点的逻辑**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原神算法的正确性依赖于一个关键性质：**如果存在一个元素出现的次数超过一半，那么它一定能通过“抵消”过程存活到最后**。设计意图是避免使用额外空间，仅通过线性扫描和常数变量记录。关键决策点有两个：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**何时更换候选人**：当 `count == 0` 时，意味着之前所有元素都被完全抵消，此时剩余子数组中可能不存在多数元素，因此将当前元素设为新候选人。这保证了后续的抵消不会受到前面配对结果的干扰。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**为何需要验证阶段**：抵消过程只保证候选人可能是多数元素，但无法排除“没有多数元素”的情况。例如数组 `[1,2,3]`，抵消后 `candidate = 3`，但3出现次数仅1次，不是多数。验证阶段通过第二次遍历统计实际次数，确认是否真的超过一半。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正确性证明可以用数学归纳法：假设对于长度为n的数组，多数元素或不存在。抵消过程相当于将数组划分为若干“配对块”，每个块内不同元素成对抵消，而多数元素由于数量优势，必然会在某些块中作为“剩余”被保留。具体地，每次 `count == 0` 时，我们删除了一对不同元素，这不会改变数组中多数元素的存在性（因为删除一对不同元素，若存在多数元素，则它在剩余部分的出现比例不会低于50%）。因此最终候选人要么是多数元素，要么是假象。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**推导时间复杂度和空间复杂度，通过数学分析理解算法的效率瓶颈**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**时间复杂度**：候选阶段遍历一次数组（n个元素），验证阶段再遍历一次数组，总操作次数为2n次比较和整数加减，因此时间复杂度为 **O(n)**。这是线性时间，无法更快，因为至少需要扫描所有元素才能确定多数。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**空间复杂度**：只使用了两个整数变量（`candidate` 和 `count`），以及验证阶段的计数器，额外空间为 **O(1)**（常数级）。这是该算法最大的优势——不需要哈希表（O(n)空间）或排序（O(n log n)时间）。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效率瓶颈分析**：虽然时间复杂度已经是线性，但两次遍历依然带来约2n次的数据访问。在极大规模数据（如数十亿元素）中，I/O瓶颈可能成为主要限制（例如磁盘读取）。另外，验证阶段是不可避免的，因为候选阶段无法保证正确性。如果数据流是无限的（如在线算法），则无法做验证，此时原神算法只能给出“可能候选”，需要其他机制（如界限估计）来保证。在工程中，瓶颈往往在于分支预测：每次比较当前元素是否等于 `candidate` 时，密集的分支可能会造成 CPU 流水线气泡，但现代编译器可以通过条件移动（cmov）指令优化。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**讨论常见实现陷阱和工程优化技巧，提升代码质量和运行效率**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常见陷阱包括：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**忘记验证阶段**：直接输出候选人而不验证，会导致在无多数元素时返回错误结果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0" y="7680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AlgoAscend AI  · 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316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DC8FF"/>
                </a:solidFill>
              </a:defRPr>
            </a:pPr>
            <a:r>
              <a:t>代码实现与解析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254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31673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**提供原神的完整 C++ 和 Python 实现，代码简洁清晰、注释完整**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我们将实现一个「原神抽卡模拟器」的核心函数：模拟单次十连抽，并统计是否触发保底机制。代码遵循 KISS 原则，每一行都有明确注释，变量名采用驼峰或下划线命名，便于理解。C++ 版本利用 STL 的随机数引擎和 vector，Python 版本则使用 random 模块和列表推导式，两者逻辑完全对称。函数 `simulateTenPull` 接受保底计数器、当前已抽次数等参数，返回本次抽卡结果（包含获得的星级及角色/武器信息）。注释中说明了每个分支的执行路径，让读者可以对照代码与下面的解析逐一验证。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A8D880"/>
                </a:solidFill>
                <a:latin typeface="Consolas"/>
              </a:defRPr>
            </a:pPr>
            <a:r>
              <a:t>  // 原神十连抽模拟（C++）</a:t>
            </a:r>
            <a:br/>
            <a:r>
              <a:t>  #include &lt;bits/stdc++.h&gt;</a:t>
            </a:r>
            <a:br/>
            <a:r>
              <a:t>  using namespace std;</a:t>
            </a:r>
            <a:br/>
            <a:br/>
            <a:r>
              <a:t>  struct PullResult {</a:t>
            </a:r>
            <a:br/>
            <a:r>
              <a:t>      int star;            // 1-5星</a:t>
            </a:r>
            <a:br/>
            <a:r>
              <a:t>      string name;         // 角色或武器名称（示例）</a:t>
            </a:r>
            <a:br/>
            <a:r>
              <a:t>  };</a:t>
            </a:r>
            <a:br/>
            <a:br/>
            <a:r>
              <a:t>  // 模拟一次单抽，返回星级（1~5）</a:t>
            </a:r>
            <a:br/>
            <a:r>
              <a:t>  int singlePull(mt19937 &amp;rng, int pity4, int pity5) {</a:t>
            </a:r>
            <a:br/>
            <a:r>
              <a:t>      uniform_real_distribution&lt;double&gt; dist(0.0, 1.0);</a:t>
            </a:r>
            <a:br/>
            <a:r>
              <a:t>      double r = dist(rng);</a:t>
            </a:r>
            <a:br/>
            <a:r>
              <a:t>      // 5星：第90抽必出（硬保底），前89抽概率0.6%</a:t>
            </a:r>
            <a:br/>
            <a:r>
              <a:t>      if (pity5 &gt;= 89) return 5;</a:t>
            </a:r>
            <a:br/>
            <a:r>
              <a:t>      if (r &lt; 0.006) return 5;</a:t>
            </a:r>
            <a:br/>
            <a:r>
              <a:t>      // 4星：第10抽必出，前9抽概率5.1%</a:t>
            </a:r>
            <a:br/>
            <a:r>
              <a:t>      if (pity4 &gt;= 9) return 4;</a:t>
            </a:r>
            <a:br/>
            <a:r>
              <a:t>      if (r &lt; 0.051) return 4;</a:t>
            </a:r>
            <a:br/>
            <a:r>
              <a:t>      return 3;  // 3星（大部分情况）</a:t>
            </a:r>
            <a:br/>
            <a:r>
              <a:t>  }</a:t>
            </a:r>
            <a:br/>
            <a:br/>
            <a:r>
              <a:t>  // 执行十连抽，更新保底计数，返回结果列表</a:t>
            </a:r>
            <a:br/>
            <a:r>
              <a:t>  vector&lt;PullResult&gt; simulateTenPull(mt19937 &amp;rng, int &amp;pity4, int &amp;pity5) {</a:t>
            </a:r>
            <a:br/>
            <a:r>
              <a:t>      vector&lt;PullResult&gt; results;</a:t>
            </a:r>
            <a:br/>
            <a:r>
              <a:t>      for (int i = 0; i &lt; 10; ++i) {</a:t>
            </a:r>
            <a:br/>
            <a:r>
              <a:t>          int star = singlePull(rng, pity4, pity5);</a:t>
            </a:r>
            <a:br/>
            <a:r>
              <a:t>          // 根据抽到的星级更新保底计数器</a:t>
            </a:r>
            <a:br/>
            <a:r>
              <a:t>          if (star == 5) { pity5 = 0; pity4++; } // 5星重置5星保底，4星保底加1</a:t>
            </a:r>
            <a:br/>
            <a:r>
              <a:t>          else if (star == 4) { pity4 = 0; pity5++; }</a:t>
            </a:r>
            <a:br/>
            <a:r>
              <a:t>          else { pity4++; pity5++; }</a:t>
            </a:r>
            <a:br/>
            <a:r>
              <a:t>          results.push_back({star, star == 5 ? "迪卢克" : (star == 4 ? "菲谢尔" : "黑缨枪")});</a:t>
            </a:r>
            <a:br/>
            <a:r>
              <a:t>      }</a:t>
            </a:r>
            <a:br/>
            <a:r>
              <a:t>      return results;</a:t>
            </a:r>
            <a:br/>
            <a:r>
              <a:t>  }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A8D880"/>
                </a:solidFill>
                <a:latin typeface="Consolas"/>
              </a:defRPr>
            </a:pPr>
            <a:r>
              <a:t>  # 原神十连抽模拟（Python）</a:t>
            </a:r>
            <a:br/>
            <a:r>
              <a:t>  import random</a:t>
            </a:r>
            <a:br/>
            <a:br/>
            <a:r>
              <a:t>  def single_pull(pity4: int, pity5: int) -&gt; int:</a:t>
            </a:r>
            <a:br/>
            <a:r>
              <a:t>      """单抽返回星级"""</a:t>
            </a:r>
            <a:br/>
            <a:r>
              <a:t>      r = random.random()</a:t>
            </a:r>
            <a:br/>
            <a:r>
              <a:t>      if pity5 &gt;= 89:       # 5星硬保底</a:t>
            </a:r>
            <a:br/>
            <a:r>
              <a:t>          return 5</a:t>
            </a:r>
            <a:br/>
            <a:r>
              <a:t>      if r &lt; 0.006:         # 5星基础概率</a:t>
            </a:r>
            <a:br/>
            <a:r>
              <a:t>          return 5</a:t>
            </a:r>
            <a:br/>
            <a:r>
              <a:t>      if pity4 &gt;= 9:        # 4星硬保底</a:t>
            </a:r>
            <a:br/>
            <a:r>
              <a:t>          return 4</a:t>
            </a:r>
            <a:br/>
            <a:r>
              <a:t>      if r &lt; 0.051:         # 4星基础概率</a:t>
            </a:r>
            <a:br/>
            <a:r>
              <a:t>          return 4</a:t>
            </a:r>
            <a:br/>
            <a:r>
              <a:t>      return 3</a:t>
            </a:r>
            <a:br/>
            <a:br/>
            <a:r>
              <a:t>  def simulate_ten_pull(pity4: int, pity5: int) -&gt; list:</a:t>
            </a:r>
            <a:br/>
            <a:r>
              <a:t>      """执行十连抽，返回星级列表，并更新保底计数（通过可变对象或重新赋值）"""</a:t>
            </a:r>
            <a:br/>
            <a:r>
              <a:t>      results = []</a:t>
            </a:r>
            <a:br/>
            <a:r>
              <a:t>      for _ in range(10):</a:t>
            </a:r>
            <a:br/>
            <a:r>
              <a:t>          star = single_pull(pity4, pity5)</a:t>
            </a:r>
            <a:br/>
            <a:r>
              <a:t>          if star == 5:</a:t>
            </a:r>
            <a:br/>
            <a:r>
              <a:t>              pity5 = 0</a:t>
            </a:r>
            <a:br/>
            <a:r>
              <a:t>              pity4 += 1</a:t>
            </a:r>
            <a:br/>
            <a:r>
              <a:t>          elif star == 4:</a:t>
            </a:r>
            <a:br/>
            <a:r>
              <a:t>              pity4 = 0</a:t>
            </a:r>
            <a:br/>
            <a:r>
              <a:t>              pity5 += 1</a:t>
            </a:r>
            <a:br/>
            <a:r>
              <a:t>          else:</a:t>
            </a:r>
            <a:br/>
            <a:r>
              <a:t>              pity4 += 1</a:t>
            </a:r>
            <a:br/>
            <a:r>
              <a:t>              pity5 += 1</a:t>
            </a:r>
            <a:br/>
            <a:r>
              <a:t>          name = {5: "迪卢克", 4: "菲谢尔", 3: "黑缨枪"}[star]</a:t>
            </a:r>
            <a:br/>
            <a:r>
              <a:t>          results.append((star, name))</a:t>
            </a:r>
            <a:br/>
            <a:r>
              <a:t>      return results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**逐段分析代码的关键逻辑，解释每个变量和判断条件的含义**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`singlePull` 函数是核心：它接收当前四星保底计数 `pity4` 和五星保底计数 `pity5`，这两个变量分别表示距离上一次抽出四星/五星后已经抽了多少抽，初始为0。判断顺序是：先检查是否触发五星硬保底（`pity5 &gt;= 89`，即第90抽必出五星），然后检查基础概率（0.6%）是否命中，接着检查四星硬保底（第10抽必出四星），再检查四星基础概率（5.1%）。如果都未命中，返回3星（最常见情况）。这个顺序保证了保底机制优先于概率随机，符合游戏规则。`simulateTenPull` 中 for 循环执行10次单抽，每次根据抽出的星级更新 `pity4` 和 `pity5`：若抽出5星，则重置 `pity5` 为0，`pity4` 加1（因为这次也算一次未出四星）；抽出4星则重置 `pity4`，`pity5` 加1；抽出3星则两者都加1。这样循环结束后，保底计数会正确反映十连后的状态。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**分析代码中的边界条件处理，讨论索引越界、空输入等特殊情况**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边界条件主要围绕保底阈值和初始状态。例如：当 `pity5` 为89时，下一次单抽必然触发五星硬保底，此时即使随机数小于0.006也会被覆盖（硬保底优先）。反之，若 `pity5` 为0且随机数小于0.006，则触发出五星，同时将 `pity5` 重置为0。四星保底类似。代码还考虑了“空输入”情况：如果 `pity4` 或 `pity5` 为负数或大于90怎么办？实际游戏中保底计数不可能为负，但作为防御性编程，我们可以加入断言 `assert(pity4 &gt;= 0 &amp;&amp; pity4 &lt;= 9)` 和 `assert(pity5 &gt;= 0 &amp;&amp; pity5 &lt;= 89)`。若传入非法值，`pity5 &gt;= 89` 可能直接返回5星（例如 `pity5=100`），这会导致游戏逻辑错误。因此，我们在入口处应检查参数合法性。另外，当 `pity4` 和 `pity5` 都达到保底值时（例如 `pity4=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0" y="7680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AlgoAscend AI  ·  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316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DC8FF"/>
                </a:solidFill>
              </a:defRPr>
            </a:pPr>
            <a:r>
              <a:t>应用场景与经典题目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254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31673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**列举 3‑5 个直接应用原神（原根）的经典算法题目，说明每道题的转化思路**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**离散对数问题**（BSGS 优化）：给定质数 \(p\)、原根 \(g\) 以及 \(y\)，求 \(x\) 使得 \(g^x \equiv y \pmod{p}\)。利用原根将乘法群 \(\mathbb{Z}_p^*\) 同构于加法群 \(\mathbb{Z}_{p-1}\)，于是问题转化为线性方程 \(x \equiv \text{ind}_g(y) \pmod{p-1}\)，再通过 BSGS（Baby Step Giant Step）在 \(O(\sqrt{p})\) 时间内求解指数。原根让指数运算和乘法运算统一为加法，简洁且效率高。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**快速数论变换（NTT）**：用于大整数乘法、卷积运算。常用模数如 \(998244353\)（质数，原根 \(3\)），NTT 的核心是利用原根构造模 \(p\) 下的单位根，替代复数单位根，实现 \(O(n \log n)\) 的整数卷积，避免浮点误差。将原根作为单位根基，保证了变换的可逆性和分治策略的正确性。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**高次剩余求解**：方程 \(x^k \equiv a \pmod{p}\)（\(p\) 为质数）。取任意原根 \(g\)，设 \(x \equiv g^t\)，则方程化为 \(g^{kt} \equiv a\)，即 \(kt \equiv \text{ind}_g(a) \pmod{p-1}\)。通过扩展欧几里得求解线性同余方程得到 \(t\)，再回代得 \(x = g^t\)。原根将幂运算转化为线性指数，大幅度降低枚举范围。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**原根的存在性判定与构造**：给定质数 \(p\)，判断是否存在原根（所有质数都存在），并求最小原根。利用原根判别法：若 \(g\) 对 \(p-1\) 的每个素因子 \(q\) 满足 \(g^{(p-1)/q} \not\equiv 1 \pmod{p}\)，则 \(g\) 是原根。这只需分解 \(p-1\) 并测试少量 \(g\)（通常 \(O(\log p)\) 次幂运算），远优于暴力枚举。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**伪随机数生成器优化**：基于原根的线性同余生成器，如 Lehmer 生成器 \(x_{i+1}=g \cdot x_i \bmod p\)，原根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0" y="7680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AlgoAscend AI  · 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316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DC8FF"/>
                </a:solidFill>
              </a:defRPr>
            </a:pPr>
            <a:r>
              <a:t>总结与进阶方向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254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31673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**回顾原神的核心知识点**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原神算法（KMP）的核心原理是利用模式串的自身重复信息，通过预处理得到 `next` 数组，在匹配失败时避免文本串回溯，将匹配时间复杂度从 O(n×m) 降为 O(n+m)。具体实现分为两步：先构造 `next` 数组（其中 `next[i]` 表示模式串前缀 `P[0..i‑1]` 的最长相同前后缀长度），再进行线性扫描匹配。其空间复杂度为 O(m)，适用于任何基于字符的精确单模式匹配场景，如文本编辑器中的查找功能、生物信息学中的基因序列检索等。理解这一算法的关键在于把握“失配时利用已知信息跳跃”的思想，它也是后续诸多字符串算法（如AC自动机、扩展KMP）的基础。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A8D880"/>
                </a:solidFill>
                <a:latin typeface="Consolas"/>
              </a:defRPr>
            </a:pPr>
            <a:r>
              <a:t>  // 原神算法（KMP）完整实现（C++）</a:t>
            </a:r>
            <a:br/>
            <a:r>
              <a:t>  #include &lt;iostream&gt;</a:t>
            </a:r>
            <a:br/>
            <a:r>
              <a:t>  #include &lt;vector&gt;</a:t>
            </a:r>
            <a:br/>
            <a:r>
              <a:t>  #include &lt;string&gt;</a:t>
            </a:r>
            <a:br/>
            <a:r>
              <a:t>  using namespace std;</a:t>
            </a:r>
            <a:br/>
            <a:br/>
            <a:r>
              <a:t>  vector&lt;int&gt; buildNext(const string&amp; pat) {</a:t>
            </a:r>
            <a:br/>
            <a:r>
              <a:t>      int m = pat.size();</a:t>
            </a:r>
            <a:br/>
            <a:r>
              <a:t>      vector&lt;int&gt; next(m, 0);</a:t>
            </a:r>
            <a:br/>
            <a:r>
              <a:t>      int j = 0;</a:t>
            </a:r>
            <a:br/>
            <a:r>
              <a:t>      for (int i = 1; i &lt; m; ++i) {</a:t>
            </a:r>
            <a:br/>
            <a:r>
              <a:t>          while (j &gt; 0 &amp;&amp; pat[i] != pat[j])</a:t>
            </a:r>
            <a:br/>
            <a:r>
              <a:t>              j = next[j - 1];</a:t>
            </a:r>
            <a:br/>
            <a:r>
              <a:t>          if (pat[i] == pat[j])</a:t>
            </a:r>
            <a:br/>
            <a:r>
              <a:t>              ++j;</a:t>
            </a:r>
            <a:br/>
            <a:r>
              <a:t>          next[i] = j;</a:t>
            </a:r>
            <a:br/>
            <a:r>
              <a:t>      }</a:t>
            </a:r>
            <a:br/>
            <a:r>
              <a:t>      return next;</a:t>
            </a:r>
            <a:br/>
            <a:r>
              <a:t>  }</a:t>
            </a:r>
            <a:br/>
            <a:br/>
            <a:r>
              <a:t>  void kmpSearch(const string&amp; txt, const string&amp; pat) {</a:t>
            </a:r>
            <a:br/>
            <a:r>
              <a:t>      int n = txt.size(), m = pat.size();</a:t>
            </a:r>
            <a:br/>
            <a:r>
              <a:t>      if (m == 0) return;</a:t>
            </a:r>
            <a:br/>
            <a:r>
              <a:t>      vector&lt;int&gt; next = buildNext(pat);</a:t>
            </a:r>
            <a:br/>
            <a:r>
              <a:t>      int j = 0;</a:t>
            </a:r>
            <a:br/>
            <a:r>
              <a:t>      for (int i = 0; i &lt; n; ++i) {</a:t>
            </a:r>
            <a:br/>
            <a:r>
              <a:t>          while (j &gt; 0 &amp;&amp; txt[i] != pat[j])</a:t>
            </a:r>
            <a:br/>
            <a:r>
              <a:t>              j = next[j - 1];</a:t>
            </a:r>
            <a:br/>
            <a:r>
              <a:t>          if (txt[i] == pat[j])</a:t>
            </a:r>
            <a:br/>
            <a:r>
              <a:t>              ++j;</a:t>
            </a:r>
            <a:br/>
            <a:r>
              <a:t>          if (j == m) {</a:t>
            </a:r>
            <a:br/>
            <a:r>
              <a:t>              cout &lt;&lt; "Pattern found at index " &lt;&lt; i - m + 1 &lt;&lt; endl;</a:t>
            </a:r>
            <a:br/>
            <a:r>
              <a:t>              j = next[j - 1];  // 继续寻找后续匹配</a:t>
            </a:r>
            <a:br/>
            <a:r>
              <a:t>          }</a:t>
            </a:r>
            <a:br/>
            <a:r>
              <a:t>      }</a:t>
            </a:r>
            <a:br/>
            <a:r>
              <a:t>  }</a:t>
            </a:r>
            <a:br/>
            <a:br/>
            <a:r>
              <a:t>  int main() {</a:t>
            </a:r>
            <a:br/>
            <a:r>
              <a:t>      string txt = "ABABDABACDABABCABAB";</a:t>
            </a:r>
            <a:br/>
            <a:r>
              <a:t>      string pat = "ABABCABAB";</a:t>
            </a:r>
            <a:br/>
            <a:r>
              <a:t>      kmpSearch(txt, pat);</a:t>
            </a:r>
            <a:br/>
            <a:r>
              <a:t>      return 0;</a:t>
            </a:r>
            <a:br/>
            <a:r>
              <a:t>  }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**总结常见易错点**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在实现原神算法时，最容易出错的地方有三个。第一，`next` 数组的边界条件：通常有两种定义方式——`next[0] = -1` 或 `next[0] = 0`。前者在匹配时处理下标需单独考虑，后者则与数组索引统一，但递归回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0" y="7680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AlgoAscend AI  · 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