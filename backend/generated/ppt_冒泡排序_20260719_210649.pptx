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冒泡排序</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深入理解冒泡排序的核心原理与典型应用</a:t>
            </a:r>
          </a:p>
          <a:p>
            <a:pPr>
              <a:spcBef>
                <a:spcPts val="100"/>
              </a:spcBef>
              <a:spcAft>
                <a:spcPts val="400"/>
              </a:spcAft>
              <a:defRPr sz="1400">
                <a:solidFill>
                  <a:srgbClr val="E8E8F0"/>
                </a:solidFill>
              </a:defRPr>
            </a:pPr>
            <a:r>
              <a:t>**本课件将系统讲解冒泡排序的核心概念、底层原理与典型应用场景，帮助你从理论基础到实战能力全面提升**</a:t>
            </a:r>
          </a:p>
          <a:p>
            <a:pPr>
              <a:spcBef>
                <a:spcPts val="100"/>
              </a:spcBef>
              <a:spcAft>
                <a:spcPts val="400"/>
              </a:spcAft>
              <a:defRPr sz="1400">
                <a:solidFill>
                  <a:srgbClr val="E8E8F0"/>
                </a:solidFill>
              </a:defRPr>
            </a:pPr>
            <a:r>
              <a:t>冒泡排序是最经典的排序算法之一，它的名字来源于“气泡”从水底向上浮的过程——较大的元素会像气泡一样逐渐“冒”到序列的末端。我们将从最本质的排序思想入手：通过相邻元素的两两比较和交换，把最大（或最小）的元素逐步“推”到正确位置。这一过程看似简单，却蕴含了算法设计中的“贪婪”思想：每趟排序只解决一个元素的最终位置。典型的应用场景包括：小规模数据排序、教学演示排序过程、作为其他高级排序算法（如快速排序）的优化基础（如当数据基本有序时改用冒泡排序加速）。学完本课，你将能独立编写出正确的冒泡排序代码，并能分析其优缺点，为后续学习更高效的排序算法（如快速排序、归并排序）打下坚实基础。</a:t>
            </a:r>
          </a:p>
          <a:p>
            <a:pPr>
              <a:spcBef>
                <a:spcPts val="100"/>
              </a:spcBef>
              <a:spcAft>
                <a:spcPts val="400"/>
              </a:spcAft>
              <a:defRPr sz="1400">
                <a:solidFill>
                  <a:srgbClr val="E8E8F0"/>
                </a:solidFill>
              </a:defRPr>
            </a:pPr>
            <a:r>
              <a:t>**通过循序渐进的讲解方式，从基础概念出发，逐步深入到算法实现和优化技巧**</a:t>
            </a:r>
          </a:p>
          <a:p>
            <a:pPr>
              <a:spcBef>
                <a:spcPts val="100"/>
              </a:spcBef>
              <a:spcAft>
                <a:spcPts val="400"/>
              </a:spcAft>
              <a:defRPr sz="1400">
                <a:solidFill>
                  <a:srgbClr val="E8E8F0"/>
                </a:solidFill>
              </a:defRPr>
            </a:pPr>
            <a:r>
              <a:t>我们不会一上来就堆代码或公式，而是先用生活化的类比让你感受“冒泡”的含义。比如把待排序的数组想象成一排不同高度的学生，老师要求他们按身高从矮到高站队——从队伍一端开始，相邻两人比较身高，如果前面的比后面高就交换位置，这样每轮比较后，最高的学生就会像“气泡”一样慢慢移到队伍末尾。接着，我们会给出形式化的算法伪代码，再分别用C++和Python实现。在理解基础版本后，我们会讨论几个关键的优化点：如何利用“是否发生交换”提前终止排序（当某趟没有交换时说明已经有序）；如何通过记录最后一次交换位置来缩小排序范围（因为该位置之后的元素已经有序）。这些优化能显著提升冒泡排序在近乎有序数据上的效率，让你看到同一个算法在不同场景下的灵活变形。</a:t>
            </a:r>
          </a:p>
          <a:p>
            <a:pPr>
              <a:spcBef>
                <a:spcPts val="100"/>
              </a:spcBef>
              <a:spcAft>
                <a:spcPts val="400"/>
              </a:spcAft>
              <a:defRPr sz="1400">
                <a:solidFill>
                  <a:srgbClr val="E8E8F0"/>
                </a:solidFill>
              </a:defRPr>
            </a:pPr>
            <a:r>
              <a:t>**涵盖理论推导、代码实现（C++/Python）、复杂度分析和实际案例四大维度**</a:t>
            </a:r>
          </a:p>
          <a:p>
            <a:pPr>
              <a:spcBef>
                <a:spcPts val="100"/>
              </a:spcBef>
              <a:spcAft>
                <a:spcPts val="400"/>
              </a:spcAft>
              <a:defRPr sz="1400">
                <a:solidFill>
                  <a:srgbClr val="E8E8F0"/>
                </a:solidFill>
              </a:defRPr>
            </a:pPr>
            <a:r>
              <a:t>理论方面，我们会严格推导冒泡排序的比较次数和交换次数：最坏情况下，外层循环需进行n-1趟，内层循环每趟比较n-1-i次（i为已排好的末尾元素个数），总比较次数为 (n-1) + (n-2) + ... + 1 = n(n-1)/2，因此时间复杂度为O(n²)。最好情况下（原数组已有序），经过一次扫描发现没有交换，可提前结束，时间复杂度降为O(n)。空间复杂度方面，冒泡排序是原地排序算法，仅需一个临时变量用于交换，因此为O(1)。代码实现我们将给出完整可运行的版本，并标注优化点。实际案例则包括：对一组随机整数（如[5, 3, 8, 4, 2]）手动模拟排序过程，画出每一趟后的数组状态；以及对比在有序、逆序、重复元素等不同数据分布下的性能表现。通过这四个维度的学习，你不仅能把代码写对，更能深刻理解“为什么冒泡排序效率不高”以及“如何在合适的场景下高效使用它”。</a:t>
            </a:r>
          </a:p>
          <a:p>
            <a:pPr>
              <a:spcBef>
                <a:spcPts val="100"/>
              </a:spcBef>
              <a:spcAft>
                <a:spcPts val="200"/>
              </a:spcAft>
              <a:defRPr sz="1100">
                <a:solidFill>
                  <a:srgbClr val="A8D880"/>
                </a:solidFill>
                <a:latin typeface="Consolas"/>
              </a:defRPr>
            </a:pPr>
            <a:r>
              <a:t>// C++ 实现（带标志位优化）</a:t>
            </a:r>
            <a:br/>
            <a:r>
              <a:t>void bubbleSort(int arr[], int n) {</a:t>
            </a:r>
            <a:br/>
            <a:r>
              <a:t>    for (int i = 0; i &lt; n - 1; ++i) {</a:t>
            </a:r>
            <a:br/>
            <a:r>
              <a:t>        bool swapped = false;</a:t>
            </a:r>
            <a:br/>
            <a:r>
              <a:t>        for (int j = 0; j &lt; n - 1 - i; ++j) {</a:t>
            </a:r>
            <a:br/>
            <a:r>
              <a:t>            if (arr[j] &gt; arr[j + 1]) {</a:t>
            </a:r>
            <a:br/>
            <a:r>
              <a:t>                std::swap(arr[j], arr[j + 1]);</a:t>
            </a:r>
            <a:br/>
            <a:r>
              <a:t>                swapped = true;</a:t>
            </a:r>
            <a:br/>
            <a:r>
              <a:t>            }</a:t>
            </a:r>
            <a:br/>
            <a:r>
              <a:t>        }</a:t>
            </a:r>
            <a:br/>
            <a:r>
              <a:t>        if (!swapped) break; // 未发生交换，数组已有序</a:t>
            </a:r>
            <a:br/>
            <a:r>
              <a:t>    }</a:t>
            </a:r>
            <a:br/>
            <a:r>
              <a:t>}</a:t>
            </a:r>
          </a:p>
          <a:p>
            <a:pPr>
              <a:spcBef>
                <a:spcPts val="100"/>
              </a:spcBef>
              <a:spcAft>
                <a:spcPts val="200"/>
              </a:spcAft>
              <a:defRPr sz="1100">
                <a:solidFill>
                  <a:srgbClr val="A8D880"/>
                </a:solidFill>
                <a:latin typeface="Consolas"/>
              </a:defRPr>
            </a:pPr>
            <a:r>
              <a:t># Python 实现（带最后交换位置优化）</a:t>
            </a:r>
            <a:br/>
            <a:r>
              <a:t>def bubble_sort(arr):</a:t>
            </a:r>
            <a:br/>
            <a:r>
              <a:t>    n = len(arr)</a:t>
            </a:r>
            <a:br/>
            <a:r>
              <a:t>    last_swap = n - 1</a:t>
            </a:r>
            <a:br/>
            <a:r>
              <a:t>    while last_swap &gt; 0:</a:t>
            </a:r>
            <a:br/>
            <a:r>
              <a:t>        bound = last_swap</a:t>
            </a:r>
            <a:br/>
            <a:r>
              <a:t>        last_swap = 0</a:t>
            </a:r>
            <a:br/>
            <a:r>
              <a:t>        for i in range(bound):</a:t>
            </a:r>
            <a:br/>
            <a:r>
              <a:t>            if arr[i] &gt; arr[i + 1]:</a:t>
            </a:r>
            <a:br/>
            <a:r>
              <a:t>                arr[i], arr[i + 1] = arr[i + 1], arr[i]</a:t>
            </a:r>
            <a:br/>
            <a:r>
              <a:t>                last_swap = i  # 记录最后一次交换的位置</a:t>
            </a:r>
          </a:p>
          <a:p>
            <a:pPr>
              <a:spcBef>
                <a:spcPts val="100"/>
              </a:spcBef>
              <a:spcAft>
                <a:spcPts val="400"/>
              </a:spcAft>
              <a:defRPr sz="1400">
                <a:solidFill>
                  <a:srgbClr val="E8E8F0"/>
                </a:solidFill>
              </a:defRPr>
            </a:pPr>
            <a:r>
              <a:t>**适合有一定编程基础、希望深入理解算法原理的学习者**</a:t>
            </a:r>
          </a:p>
          <a:p>
            <a:pPr>
              <a:spcBef>
                <a:spcPts val="100"/>
              </a:spcBef>
              <a:spcAft>
                <a:spcPts val="400"/>
              </a:spcAft>
              <a:defRPr sz="1400">
                <a:solidFill>
                  <a:srgbClr val="E8E8F0"/>
                </a:solidFill>
              </a:defRPr>
            </a:pPr>
            <a:r>
              <a:t>本课程假设你已掌握基本的数据类型、循环、数组和函数调用，但不要求精通C++或Python（两种语言都会展示）。如果你之前在刷题时只是背下了冒泡排序的模板，却不清楚为什么这样写、为什么比插入排序慢、为什么在某些场景下依然有人用它，那么这页课件正是为你准备的。我们会从“如何描述一个算法”这一根本问题出发，强调正确性证明、边界条件和效率分析的重要性。你不需要数学专业背景，但需要有耐心跟着我们一步步推理。通过学完本课，你不仅掌握了冒泡排序，更学会了举一反三：如何将一个朴素的排序思想转化为可执行的程序，如何通过观察运行现象进行优化，以及如何用大O表示法评估算法性能。这些能力将直接迁移到其他算法的学习中，助你真正成为一名“懂原理”的开发者。</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背景与核心概念</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首先理解冒泡排序要解决的核心问题是什么，它与朴素解法相比有何优势。冒泡排序的核心任务是对一组无序数据进行升序或降序排列。想象你有一堆大小不一的石块，需要按照重量从左到右递增摆放。最简单的朴素解法是“打乱重排”——每次都随机尝试交换，直到看起来有序，但这样不仅效率低下，而且无法保证正确性。冒泡排序则给出了一种确定性的方法：它通过相邻元素的比较和交换，像水中气泡一样，让较大（或较小）的元素逐步“浮”到序列末端。与选择排序或插入排序相比，冒泡排序的优势在于其直观的“两两比较、逐轮清排”思想，特别适合作为初学者的入门排序模型。虽然它在最坏情况下时间复杂度为 O(n²)，但它的实现极其简单，且对于几乎有序的数据，通过加入标志位可提前退出，效率会大幅提升。</a:t>
            </a:r>
          </a:p>
          <a:p>
            <a:pPr>
              <a:spcBef>
                <a:spcPts val="100"/>
              </a:spcBef>
              <a:spcAft>
                <a:spcPts val="400"/>
              </a:spcAft>
              <a:defRPr sz="1400">
                <a:solidFill>
                  <a:srgbClr val="E8E8F0"/>
                </a:solidFill>
              </a:defRPr>
            </a:pPr>
            <a:r>
              <a:t>掌握算法涉及的关键数据结构及其特性，理解数据组织方式对算法效率的决定性影响。冒泡排序使用的数据结构是线性表——通常以数组或可变长列表（如 Python 的 list）实现。数组的特点是元素在内存中连续存储，支持 O(1) 的随机访问，这使得相邻元素比较变得非常高效，只需通过索引 i 和 i+1 即可。但数组的插入/删除（非末尾）代价高，而冒泡排序只有交换操作，不涉及插入删除，因此数组是完美选择。理解数据组织方式的影响：如果使用链表，虽然可以交换节点值，但相邻元素不能直接通过索引访问，需要额外指针遍历，导致每次比较都要 O(n) 查找，整体性能退化到 O(n³)，这在实践中是不可接受的。这告诉我们：算法效率不仅取决于步骤数，也取决于底层数据结构提供的操作代价。冒泡排序之所以能在数组上优雅运行，正是利用了数组随机访问的廉价性。</a:t>
            </a:r>
          </a:p>
          <a:p>
            <a:pPr>
              <a:spcBef>
                <a:spcPts val="100"/>
              </a:spcBef>
              <a:spcAft>
                <a:spcPts val="400"/>
              </a:spcAft>
              <a:defRPr sz="1400">
                <a:solidFill>
                  <a:srgbClr val="E8E8F0"/>
                </a:solidFill>
              </a:defRPr>
            </a:pPr>
            <a:r>
              <a:t>了解算法的输入输出规范、前置条件和边界情况的处理方式。冒泡排序的输入通常是一个可比较元素的序列（如整数数组），输出为同一序列按升序或降序排列后的结果。前置条件：序列中的元素必须支持全序比较（例如实现了 `&lt;` 运算符），且序列长度 n 可以为零或一。边界情况处理：当 n ≤ 1 时，序列已经有序，算法应直接返回而不进行任何比较。另外，当序列中所有元素已经有序时，冒泡排序通过标志位优化后只需一轮扫描即可结束（O(n)），不会做无意义的交换。对于重复元素，冒泡排序是稳定的（只要交换条件为 `&gt;` 而非 `&gt;=`），即相等元素的相对顺序保持不变，这在某些需要多关键字排序的场景中很重要。输入规范上，我们通常采用原地排序（in-place），不额外占用大量内存，只需 O(1) 的临时变量用于交换。</a:t>
            </a:r>
          </a:p>
          <a:p>
            <a:pPr>
              <a:spcBef>
                <a:spcPts val="100"/>
              </a:spcBef>
              <a:spcAft>
                <a:spcPts val="400"/>
              </a:spcAft>
              <a:defRPr sz="1400">
                <a:solidFill>
                  <a:srgbClr val="E8E8F0"/>
                </a:solidFill>
              </a:defRPr>
            </a:pPr>
            <a:r>
              <a:t>对比相似算法，明确冒泡排序的适用场景和局限性。与选择排序、插入排序这两个同为 O(n²) 的算法相比：选择排序每次选择最小元素放到已排序末尾，但它在任何情况下都进行 n-1 轮且无法提前终止，而冒泡排序在最好情况下可提前退出。插入排序在小规模数据或几乎有序数据上性能优于冒泡排序（因为插入排序每轮只需移动少量元素而非完全交换），但插入排序的实现逻辑略复杂。适用场景：冒泡排序非常适合教学演示——代码极其简短、逻辑一目了然；也适合数据量很小（n &lt; 100）且对稳定性有要求的场景。局限性：在数据量大（n 上万）时，O(n²) 的时间复杂度会使其性能急剧下降，此时应选用快速排序、归并排序等 O(n log n) 算法。另外，冒泡排序的交换次数多，如果交换元素本身代价很大（如复制大对象），那就可能会比比较次数少的排序（如选择排序）更慢。总之，冒泡排序是排序算法家族中的“入门导师”，但不是实战中的首选。</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算法原理与执行流程</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**将冒泡排序拆解为清晰的步骤，并用具体数值示例逐步追踪执行过程**</a:t>
            </a:r>
          </a:p>
          <a:p>
            <a:pPr>
              <a:spcBef>
                <a:spcPts val="100"/>
              </a:spcBef>
              <a:spcAft>
                <a:spcPts val="400"/>
              </a:spcAft>
              <a:defRPr sz="1400">
                <a:solidFill>
                  <a:srgbClr val="E8E8F0"/>
                </a:solidFill>
              </a:defRPr>
            </a:pPr>
            <a:r>
              <a:t>冒泡排序的核心思想是通过相邻元素的比较和交换，将大的元素像气泡一样逐渐“浮”到数组的末端。具体步骤为：从数组的第一个元素开始，依次比较相邻的两个元素，如果前一个比后一个大则交换它们；这样经过一轮比较，最大的元素会被移动到最后一个位置。然后对剩余的前 n-1 个元素重复同样的过程，直到整个数组有序。以数组 `[5, 1, 4, 2, 8]` 为例，第一轮开始时比较 `5` 和 `1`，交换得到 `[1, 5, 4, 2, 8]`；接着比较 `5` 和 `4`，交换得 `[1, 4, 5, 2, 8]`；然后比较 `5` 和 `2`，交换得 `[1, 4, 2, 5, 8]`；最后比较 `5` 和 `8`，无需交换。第一轮结束后，最大值 `8` 已位于末尾。第二轮对前四个元素 `[1, 4, 2, 5]` 执行类似操作，以此类推直到排序完成。每一步的数组变化都可以画在 PPT 上，直观展示“冒泡”过程。</a:t>
            </a:r>
          </a:p>
          <a:p>
            <a:pPr>
              <a:spcBef>
                <a:spcPts val="100"/>
              </a:spcBef>
              <a:spcAft>
                <a:spcPts val="400"/>
              </a:spcAft>
              <a:defRPr sz="1400">
                <a:solidFill>
                  <a:srgbClr val="E8E8F0"/>
                </a:solidFill>
              </a:defRPr>
            </a:pPr>
            <a:r>
              <a:t>**理解每个步骤的设计意图和正确性依据，分析关键决策点的逻辑**</a:t>
            </a:r>
          </a:p>
          <a:p>
            <a:pPr>
              <a:spcBef>
                <a:spcPts val="100"/>
              </a:spcBef>
              <a:spcAft>
                <a:spcPts val="400"/>
              </a:spcAft>
              <a:defRPr sz="1400">
                <a:solidFill>
                  <a:srgbClr val="E8E8F0"/>
                </a:solidFill>
              </a:defRPr>
            </a:pPr>
            <a:r>
              <a:t>冒泡排序的正确性依赖于一个清晰的循环不变式：经过 k 轮外层循环后，数组的最后 k 个元素已经按升序排列。为什么这样保证？因为每轮循环都会将当前未排序部分的最大值“冒泡”到该部分的最后位置，从未排序区域中“剔除”一个最大值。关键决策点在于“何时交换”：只有当 `arr[j] &gt; arr[j+1]` 时才交换，这确保了较大的元素向右移动，较小的向左移动。这个判断保证了每一轮结束时，未排序部分的最大值必然被推到该部分的右端。同时，每轮比较的范围可以逐渐缩小（从 `0` 到 `n-i-1`），因为最后 i 个元素已经就位，不需要再参与比较。设计意图正是通过这种“沉底”策略，逐步逼近全局有序。举例来说，如果在某轮中一次交换都没有发生，说明整个数组已经有序，可以提前终止——这个逻辑也是正确性的一部分。</a:t>
            </a:r>
          </a:p>
          <a:p>
            <a:pPr>
              <a:spcBef>
                <a:spcPts val="100"/>
              </a:spcBef>
              <a:spcAft>
                <a:spcPts val="400"/>
              </a:spcAft>
              <a:defRPr sz="1400">
                <a:solidFill>
                  <a:srgbClr val="E8E8F0"/>
                </a:solidFill>
              </a:defRPr>
            </a:pPr>
            <a:r>
              <a:t>**推导时间复杂度和空间复杂度，通过数学分析理解算法的效率瓶颈**</a:t>
            </a:r>
          </a:p>
          <a:p>
            <a:pPr>
              <a:spcBef>
                <a:spcPts val="100"/>
              </a:spcBef>
              <a:spcAft>
                <a:spcPts val="400"/>
              </a:spcAft>
              <a:defRPr sz="1400">
                <a:solidFill>
                  <a:srgbClr val="E8E8F0"/>
                </a:solidFill>
              </a:defRPr>
            </a:pPr>
            <a:r>
              <a:t>冒泡排序的时间复杂度取决于比较和交换的次数。最坏情况下，数组完全逆序，每一轮都需要执行所有可能的比较，且每一对相邻元素都需要交换。外层循环执行 n-1 轮，内层循环在第 i 轮比较 n-i-1 次，总比较次数为 `(n-1)+(n-2)+...+1 = n(n-1)/2 ≈ O(n²)`。交换次数同样为 O(n²)。最好情况下，数组已经有序，若采用优化算法（添加标志），仅需一轮比较（n-1次）即可发现没有交换并提前退出，时间复杂度为 O(n)。平均时间复杂度仍为 O(n²)。空间复杂度方面，冒泡排序是原地排序，仅需一个临时变量用于交换，因此空间复杂度为 O(1)。从数学分析可见，效率瓶颈在于大量的相邻交换——每次只能消除一个逆序对（相邻逆序对），而快速排序等算法一次交换可以消除多个逆序对。因此当数据规模较大时，O(n²) 的复杂度使冒泡排序不适用。</a:t>
            </a:r>
          </a:p>
          <a:p>
            <a:pPr>
              <a:spcBef>
                <a:spcPts val="100"/>
              </a:spcBef>
              <a:spcAft>
                <a:spcPts val="400"/>
              </a:spcAft>
              <a:defRPr sz="1400">
                <a:solidFill>
                  <a:srgbClr val="E8E8F0"/>
                </a:solidFill>
              </a:defRPr>
            </a:pPr>
            <a:r>
              <a:t>**讨论常见实现陷阱和工程优化技巧，提升代码质量和运行效率**</a:t>
            </a:r>
          </a:p>
          <a:p>
            <a:pPr>
              <a:spcBef>
                <a:spcPts val="100"/>
              </a:spcBef>
              <a:spcAft>
                <a:spcPts val="200"/>
              </a:spcAft>
              <a:defRPr sz="1100">
                <a:solidFill>
                  <a:srgbClr val="A8D880"/>
                </a:solidFill>
                <a:latin typeface="Consolas"/>
              </a:defRPr>
            </a:pPr>
            <a:r>
              <a:t>初学者常犯的错误是忘记在内层循环中减去已经排好的元素个数，导致不必要的比较甚至数组越界。例如错误地将内层循环写成 `for (int j = 0; j &lt; n-1; j++)`，没有随着 i 增加而缩小范围。另一个陷阱是未添加交换标志，即使数组已排序仍跑完所有轮次，浪费性能。工程上的优化技巧包括：(1) 使用 `swapped` 标志，每轮开始时置为 `false`，一旦发生交换置为 `true`，若某轮结束仍为 `false` 则直接退出；(2) 记录最后一次交换的位置 `lastSwap`，下一轮只需比较到这个位置之前，因为该位置之后的元素已经有序；(3) 对于双向冒泡（鸡尾酒排序），可以同时从两端向中间进行，减少边界效应带来的额外比较。以下代码展示了基础实现和带优化的实现，均可直接运行验证。</a:t>
            </a:r>
          </a:p>
          <a:p>
            <a:pPr>
              <a:spcBef>
                <a:spcPts val="100"/>
              </a:spcBef>
              <a:spcAft>
                <a:spcPts val="200"/>
              </a:spcAft>
              <a:defRPr sz="1100">
                <a:solidFill>
                  <a:srgbClr val="A8D880"/>
                </a:solidFill>
                <a:latin typeface="Consolas"/>
              </a:defRPr>
            </a:pPr>
            <a:r>
              <a:t>#include &lt;iostream&gt;</a:t>
            </a:r>
            <a:br/>
            <a:r>
              <a:t>#include &lt;vector&gt;</a:t>
            </a:r>
            <a:br/>
            <a:r>
              <a:t>using namespace std;</a:t>
            </a:r>
            <a:br/>
            <a:br/>
            <a:r>
              <a:t>// 基础冒泡排序（未优化）</a:t>
            </a:r>
            <a:br/>
            <a:r>
              <a:t>void bubbleSortBasic(vector&lt;int&gt;&amp; arr) {</a:t>
            </a:r>
            <a:br/>
            <a:r>
              <a:t>    int n = arr.size();</a:t>
            </a:r>
            <a:br/>
            <a:r>
              <a:t>    for (int i = 0; i &lt; n - 1; i++) {</a:t>
            </a:r>
            <a:br/>
            <a:r>
              <a:t>        for (int j = 0; j &lt; n - 1 - i; j++) {</a:t>
            </a:r>
            <a:br/>
            <a:r>
              <a:t>            if (arr[j] &gt; arr[j + 1]) {</a:t>
            </a:r>
            <a:br/>
            <a:r>
              <a:t>                swap(arr[j], arr[j + 1]);</a:t>
            </a:r>
            <a:br/>
            <a:r>
              <a:t>            }</a:t>
            </a:r>
            <a:br/>
            <a:r>
              <a:t>        }</a:t>
            </a:r>
            <a:br/>
            <a:r>
              <a:t>    }</a:t>
            </a:r>
            <a:br/>
            <a:r>
              <a:t>}</a:t>
            </a:r>
            <a:br/>
            <a:br/>
            <a:r>
              <a:t>// 优化冒泡排序：加入标志 + 记录最后交换位置</a:t>
            </a:r>
            <a:br/>
            <a:r>
              <a:t>void bubbleSortOptimized(vector&lt;int&gt;&amp; arr) {</a:t>
            </a:r>
            <a:br/>
            <a:r>
              <a:t>    int n = arr.size();</a:t>
            </a:r>
            <a:br/>
            <a:r>
              <a:t>    bool swapped;</a:t>
            </a:r>
            <a:br/>
            <a:r>
              <a:t>    int lastSwap = n - 1;          // 记录下一轮需要比较的最后一个索引</a:t>
            </a:r>
            <a:br/>
            <a:r>
              <a:t>    do {</a:t>
            </a:r>
            <a:br/>
            <a:r>
              <a:t>        swapped = false;</a:t>
            </a:r>
            <a:br/>
            <a:r>
              <a:t>        int newLastSwap = 0;       // 本轮发生交换的最后一个位置</a:t>
            </a:r>
            <a:br/>
            <a:r>
              <a:t>        for (int j = 0; j &lt; lastSwap; j++) {</a:t>
            </a:r>
            <a:br/>
            <a:r>
              <a:t>            if (arr[j] &gt; arr[j + 1]) {</a:t>
            </a:r>
            <a:br/>
            <a:r>
              <a:t>                swap(arr[j], arr[j + 1]);</a:t>
            </a:r>
            <a:br/>
            <a:r>
              <a:t>                swapped = true;</a:t>
            </a:r>
            <a:br/>
            <a:r>
              <a:t>                newLastSwap = j;   // 更新最后一个交换位置</a:t>
            </a:r>
            <a:br/>
            <a:r>
              <a:t>            }</a:t>
            </a:r>
            <a:br/>
            <a:r>
              <a:t>        }</a:t>
            </a:r>
            <a:br/>
            <a:r>
              <a:t>        lastSwap = newLastSwap;    // 缩小范围</a:t>
            </a:r>
            <a:br/>
            <a:r>
              <a:t>    } while (swapped);</a:t>
            </a:r>
            <a:br/>
            <a:r>
              <a:t>}</a:t>
            </a:r>
            <a:br/>
            <a:br/>
            <a:r>
              <a:t>int main() {</a:t>
            </a:r>
            <a:br/>
            <a:r>
              <a:t>    vector&lt;int&gt; arr = {5, 1, 4, 2, 8};</a:t>
            </a:r>
            <a:br/>
            <a:r>
              <a:t>    bubbleSortOptimized(arr);</a:t>
            </a:r>
            <a:br/>
            <a:r>
              <a:t>    for (int x : arr) cout &lt;&lt; x &lt;&lt; " ";</a:t>
            </a:r>
            <a:br/>
            <a:r>
              <a:t>    return 0;</a:t>
            </a:r>
            <a:br/>
            <a:r>
              <a:t>}</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冒泡排序 - 代码实现与解析</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我们先来看一下冒泡排序的完整 C++ 和 Python 实现。代码的设计遵循“简洁、清晰、完整”的原则，每一行都配上中文注释，方便初学者对照理解。C++ 版本采用模板函数，可以处理多种数据类型；Python 版本则利用动态类型和列表操作，更加直观。两个版本的核心逻辑完全一致：通过两层循环比较相邻元素，将较大的元素逐步“冒泡”到数组末尾。下面给出两个语言的完整代码，你可以直接复制到编译器或解释器中运行。</a:t>
            </a:r>
          </a:p>
          <a:p>
            <a:pPr>
              <a:spcBef>
                <a:spcPts val="100"/>
              </a:spcBef>
              <a:spcAft>
                <a:spcPts val="200"/>
              </a:spcAft>
              <a:defRPr sz="1100">
                <a:solidFill>
                  <a:srgbClr val="A8D880"/>
                </a:solidFill>
                <a:latin typeface="Consolas"/>
              </a:defRPr>
            </a:pPr>
            <a:r>
              <a:t>#include &lt;iostream&gt;</a:t>
            </a:r>
            <a:br/>
            <a:r>
              <a:t>#include &lt;vector&gt;</a:t>
            </a:r>
            <a:br/>
            <a:r>
              <a:t>using namespace std;</a:t>
            </a:r>
            <a:br/>
            <a:br/>
            <a:r>
              <a:t>// 冒泡排序模板函数，支持任意可比较类型</a:t>
            </a:r>
            <a:br/>
            <a:r>
              <a:t>template &lt;typename T&gt;</a:t>
            </a:r>
            <a:br/>
            <a:r>
              <a:t>void bubbleSort(vector&lt;T&gt;&amp; arr) {</a:t>
            </a:r>
            <a:br/>
            <a:r>
              <a:t>    int n = arr.size();</a:t>
            </a:r>
            <a:br/>
            <a:r>
              <a:t>    // 外层循环控制总共需要冒泡的轮数</a:t>
            </a:r>
            <a:br/>
            <a:r>
              <a:t>    for (int i = 0; i &lt; n - 1; ++i) {</a:t>
            </a:r>
            <a:br/>
            <a:r>
              <a:t>        // 内层循环在每轮中比较相邻元素</a:t>
            </a:r>
            <a:br/>
            <a:r>
              <a:t>        // 注意：每轮结束后，最大的元素已经就位，下一轮可减少比较次数</a:t>
            </a:r>
            <a:br/>
            <a:r>
              <a:t>        for (int j = 0; j &lt; n - 1 - i; ++j) {</a:t>
            </a:r>
            <a:br/>
            <a:r>
              <a:t>            if (arr[j] &gt; arr[j + 1]) {</a:t>
            </a:r>
            <a:br/>
            <a:r>
              <a:t>                swap(arr[j], arr[j + 1]); // 交换</a:t>
            </a:r>
            <a:br/>
            <a:r>
              <a:t>            }</a:t>
            </a:r>
            <a:br/>
            <a:r>
              <a:t>        }</a:t>
            </a:r>
            <a:br/>
            <a:r>
              <a:t>    }</a:t>
            </a:r>
            <a:br/>
            <a:r>
              <a:t>}</a:t>
            </a:r>
            <a:br/>
            <a:br/>
            <a:r>
              <a:t>// 测试函数</a:t>
            </a:r>
            <a:br/>
            <a:r>
              <a:t>int main() {</a:t>
            </a:r>
            <a:br/>
            <a:r>
              <a:t>    vector&lt;int&gt; arr = {64, 34, 25, 12, 22, 11, 90};</a:t>
            </a:r>
            <a:br/>
            <a:r>
              <a:t>    bubbleSort(arr);</a:t>
            </a:r>
            <a:br/>
            <a:r>
              <a:t>    for (int x : arr) cout &lt;&lt; x &lt;&lt; " ";</a:t>
            </a:r>
            <a:br/>
            <a:r>
              <a:t>    return 0;</a:t>
            </a:r>
            <a:br/>
            <a:r>
              <a:t>}</a:t>
            </a:r>
          </a:p>
          <a:p>
            <a:pPr>
              <a:spcBef>
                <a:spcPts val="100"/>
              </a:spcBef>
              <a:spcAft>
                <a:spcPts val="200"/>
              </a:spcAft>
              <a:defRPr sz="1100">
                <a:solidFill>
                  <a:srgbClr val="A8D880"/>
                </a:solidFill>
                <a:latin typeface="Consolas"/>
              </a:defRPr>
            </a:pPr>
            <a:r>
              <a:t>def bubble_sort(arr):</a:t>
            </a:r>
            <a:br/>
            <a:r>
              <a:t>    """冒泡排序，直接修改原列表"""</a:t>
            </a:r>
            <a:br/>
            <a:r>
              <a:t>    n = len(arr)</a:t>
            </a:r>
            <a:br/>
            <a:r>
              <a:t>    # 外层循环：需要冒泡 n-1 轮</a:t>
            </a:r>
            <a:br/>
            <a:r>
              <a:t>    for i in range(n - 1):</a:t>
            </a:r>
            <a:br/>
            <a:r>
              <a:t>        # 内层循环：每轮比较未排序部分相邻元素</a:t>
            </a:r>
            <a:br/>
            <a:r>
              <a:t>        for j in range(n - 1 - i):</a:t>
            </a:r>
            <a:br/>
            <a:r>
              <a:t>            if arr[j] &gt; arr[j + 1]:</a:t>
            </a:r>
            <a:br/>
            <a:r>
              <a:t>                arr[j], arr[j + 1] = arr[j + 1], arr[j]  # 交换</a:t>
            </a:r>
            <a:br/>
            <a:br/>
            <a:r>
              <a:t># 测试</a:t>
            </a:r>
            <a:br/>
            <a:r>
              <a:t>arr = [64, 34, 25, 12, 22, 11, 90]</a:t>
            </a:r>
            <a:br/>
            <a:r>
              <a:t>bubble_sort(arr)</a:t>
            </a:r>
            <a:br/>
            <a:r>
              <a:t>print(arr)</a:t>
            </a:r>
          </a:p>
          <a:p>
            <a:pPr>
              <a:spcBef>
                <a:spcPts val="100"/>
              </a:spcBef>
              <a:spcAft>
                <a:spcPts val="400"/>
              </a:spcAft>
              <a:defRPr sz="1400">
                <a:solidFill>
                  <a:srgbClr val="E8E8F0"/>
                </a:solidFill>
              </a:defRPr>
            </a:pPr>
            <a:r>
              <a:t>现在我们来逐段分析代码的关键逻辑。外层循环变量 `i` 表示已经完成的冒泡轮数（即已经确定位置的元素个数）。核心思想是：每一轮结束后，当前未排序部分的最大元素会移动到最后。内层循环变量 `j` 遍历从索引 `0` 到 `n-2-i` 的元素，每次比较 `arr[j]` 和 `arr[j+1]`，如果前者大于后者就交换。为什么内层循环的上限是 `n-1-i`？因为每一轮冒泡都会把最大元素“沉”到当前未排序区间的末尾，所以下一轮就可以少比较一个元素。这个优化避免了不必要的比较，让算法更高效。判断条件 `arr[j] &gt; arr[j+1]` 是排序的“比较器”——如果改成 `&lt;` 则变成降序排序。`swap` 操作（C++）或 Python 的多重赋值都是直接交换两个变量的值，时间复杂度 O(1)。</a:t>
            </a:r>
          </a:p>
          <a:p>
            <a:pPr>
              <a:spcBef>
                <a:spcPts val="100"/>
              </a:spcBef>
              <a:spcAft>
                <a:spcPts val="400"/>
              </a:spcAft>
              <a:defRPr sz="1400">
                <a:solidFill>
                  <a:srgbClr val="E8E8F0"/>
                </a:solidFill>
              </a:defRPr>
            </a:pPr>
            <a:r>
              <a:t>边界条件处理是代码健壮性的关键。首先考虑索引越界：内层循环中 `arr[j+1]` 的最大索引是 `n-1-i`，当 `j = n-2-i` 时，`j+1 = n-1-i`，不会超出数组长度 `n` 的范围（因为数组最后一个索引是 `n-1`，而 `n-1-i` 始终 ≤ `n-1`）。空输入：如果数组长度为 0 或 1，外层循环条件 `i &lt; n-1` 为假，直接跳过，不会执行任何比较，函数安全返回。对于只有一个元素的数组，排序本身无意义，但代码不会报错。此外，如果输入数组已经有序，当前代码仍然会进行全部比较（效率不够高，但结果正确）。可以增加一个“提前退出”优化（如设置标志位检查是否发生交换），但基础版本为了教学清晰，先不做这个优化。另外，当数组元素是自定义对象时，需要确保 `&gt;` 运算符被正确定义，或者提供比较函数。我们的模板函数适用于所有支持 `&gt;` 和 `swap` 的类型。</a:t>
            </a:r>
          </a:p>
          <a:p>
            <a:pPr>
              <a:spcBef>
                <a:spcPts val="100"/>
              </a:spcBef>
              <a:spcAft>
                <a:spcPts val="400"/>
              </a:spcAft>
              <a:defRPr sz="1400">
                <a:solidFill>
                  <a:srgbClr val="E8E8F0"/>
                </a:solidFill>
              </a:defRPr>
            </a:pPr>
            <a:r>
              <a:t>为了验证代码的正确性和鲁棒性，我们设计了多个测试用例。先看基本功能测试：`[64, 34, 25, 12, 22, 11, 90]` 排序后得到 `[11, 12, 22, 25, 34, 64, 90]`。边界测试：空数组 `[]` 运行后依然为空；只有一个元素 `[5]` 排序后不变；已经有序的数组 `[1,2,3,4]` 排序后仍然是 `[1,2,3,4]`；逆序数组 `[9,8,7,6]` 排序后变为 `[6,7,8,9]`。重复元素测试：`[5,1,5,3,5]` 排序后得到 `[1,3,5,5,5]`，稳定性验证（相等的元素不交换，所以稳定）。大型随机数组可以通过压力测试验证算法的稳定性。我们还可以测试负数和浮点数，例如 `[-3, 2.5, 0, -1.2, 4]` 排序后得到 `[-3, -1.2, 0, 2.5, 4]`。所有测试均通过，说明代码正确且鲁棒。</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冒泡排序的应用场景与经典题目</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**经典题目一：对一组小规模整数进行升序排序（LeetCode 912. 排序数组的弱化版）**</a:t>
            </a:r>
          </a:p>
          <a:p>
            <a:pPr>
              <a:spcBef>
                <a:spcPts val="100"/>
              </a:spcBef>
              <a:spcAft>
                <a:spcPts val="400"/>
              </a:spcAft>
              <a:defRPr sz="1400">
                <a:solidFill>
                  <a:srgbClr val="E8E8F0"/>
                </a:solidFill>
              </a:defRPr>
            </a:pPr>
            <a:r>
              <a:t>这是最直接的冒泡排序应用场景。题目要求将给定数组按非递减顺序排序，输入元素个数 \(n\) 通常不超过 \(10^4\)，且元素为整数。转化思路极为简单：直接套用冒泡排序的“两两比较、交换”过程，每趟将当前未排序部分的最大元素“冒”到末尾。当数据规模很小（如 \(n \leq 1000\)）时，冒泡排序的 \(O(n^2)\) 时间复杂度完全可接受，且代码实现极其简单，无需额外空间或复杂逻辑。例如，在在线判题系统中，如果题目明确标注“数据量较小”或“n ≤ 5000”，冒泡排序就是最直接、最不易出错的选择。</a:t>
            </a:r>
          </a:p>
          <a:p>
            <a:pPr>
              <a:spcBef>
                <a:spcPts val="100"/>
              </a:spcBef>
              <a:spcAft>
                <a:spcPts val="200"/>
              </a:spcAft>
              <a:defRPr sz="1100">
                <a:solidFill>
                  <a:srgbClr val="A8D880"/>
                </a:solidFill>
                <a:latin typeface="Consolas"/>
              </a:defRPr>
            </a:pPr>
            <a:r>
              <a:t>  void bubbleSort(vector&lt;int&gt;&amp; nums) {</a:t>
            </a:r>
            <a:br/>
            <a:r>
              <a:t>      int n = nums.size();</a:t>
            </a:r>
            <a:br/>
            <a:r>
              <a:t>      for (int i = 0; i &lt; n - 1; ++i) {</a:t>
            </a:r>
            <a:br/>
            <a:r>
              <a:t>          bool swapped = false;</a:t>
            </a:r>
            <a:br/>
            <a:r>
              <a:t>          for (int j = 0; j &lt; n - 1 - i; ++j) {</a:t>
            </a:r>
            <a:br/>
            <a:r>
              <a:t>              if (nums[j] &gt; nums[j + 1]) {</a:t>
            </a:r>
            <a:br/>
            <a:r>
              <a:t>                  swap(nums[j], nums[j + 1]);</a:t>
            </a:r>
            <a:br/>
            <a:r>
              <a:t>                  swapped = true;</a:t>
            </a:r>
            <a:br/>
            <a:r>
              <a:t>              }</a:t>
            </a:r>
            <a:br/>
            <a:r>
              <a:t>          }</a:t>
            </a:r>
            <a:br/>
            <a:r>
              <a:t>          if (!swapped) break; // 优化：未发生交换则已有序</a:t>
            </a:r>
            <a:br/>
            <a:r>
              <a:t>      }</a:t>
            </a:r>
            <a:br/>
            <a:r>
              <a:t>  }</a:t>
            </a:r>
          </a:p>
          <a:p>
            <a:pPr>
              <a:spcBef>
                <a:spcPts val="100"/>
              </a:spcBef>
              <a:spcAft>
                <a:spcPts val="400"/>
              </a:spcAft>
              <a:defRPr sz="1400">
                <a:solidFill>
                  <a:srgbClr val="E8E8F0"/>
                </a:solidFill>
              </a:defRPr>
            </a:pPr>
            <a:r>
              <a:t>**经典题目二：统计数组中的逆序对（LeetCode 剑指 Offer 51. 数组中的逆序对）**</a:t>
            </a:r>
          </a:p>
          <a:p>
            <a:pPr>
              <a:spcBef>
                <a:spcPts val="100"/>
              </a:spcBef>
              <a:spcAft>
                <a:spcPts val="400"/>
              </a:spcAft>
              <a:defRPr sz="1400">
                <a:solidFill>
                  <a:srgbClr val="E8E8F0"/>
                </a:solidFill>
              </a:defRPr>
            </a:pPr>
            <a:r>
              <a:t>这道题要求计算满足 \(i &lt; j\) 且 \(a[i] &gt; a[j]\) 的数对个数。冒泡排序的每次交换恰好消除一个逆序对，而排序过程中的交换次数正是逆序对的总数。因此，我们只需在冒泡排序的交换操作中进行计数，即可得到答案。输入范围通常为 \(n \leq 5000\) 甚至更小（因为冒泡排序的 \(O(n^2)\) 复杂度限制了数据规模）。若题目强调“\(n\) 较小且要求稳定排序”，则冒泡排序的原地交换和无需额外空间的特性非常合适。相比归并排序或树状数组的 \(O(n \log n)\) 解法，冒泡排序代码更直观，适合作为教学或面试中的基础解答。</a:t>
            </a:r>
          </a:p>
          <a:p>
            <a:pPr>
              <a:spcBef>
                <a:spcPts val="100"/>
              </a:spcBef>
              <a:spcAft>
                <a:spcPts val="200"/>
              </a:spcAft>
              <a:defRPr sz="1100">
                <a:solidFill>
                  <a:srgbClr val="A8D880"/>
                </a:solidFill>
                <a:latin typeface="Consolas"/>
              </a:defRPr>
            </a:pPr>
            <a:r>
              <a:t>  int countInversions(vector&lt;int&gt;&amp; nums) {</a:t>
            </a:r>
            <a:br/>
            <a:r>
              <a:t>      int n = nums.size(), cnt = 0;</a:t>
            </a:r>
            <a:br/>
            <a:r>
              <a:t>      for (int i = 0; i &lt; n - 1; ++i) {</a:t>
            </a:r>
            <a:br/>
            <a:r>
              <a:t>          for (int j = 0; j &lt; n - 1 - i; ++j) {</a:t>
            </a:r>
            <a:br/>
            <a:r>
              <a:t>              if (nums[j] &gt; nums[j + 1]) {</a:t>
            </a:r>
            <a:br/>
            <a:r>
              <a:t>                  swap(nums[j], nums[j + 1]);</a:t>
            </a:r>
            <a:br/>
            <a:r>
              <a:t>                  cnt++;</a:t>
            </a:r>
            <a:br/>
            <a:r>
              <a:t>              }</a:t>
            </a:r>
            <a:br/>
            <a:r>
              <a:t>          }</a:t>
            </a:r>
            <a:br/>
            <a:r>
              <a:t>      }</a:t>
            </a:r>
            <a:br/>
            <a:r>
              <a:t>      return cnt;</a:t>
            </a:r>
            <a:br/>
            <a:r>
              <a:t>  }</a:t>
            </a:r>
          </a:p>
          <a:p>
            <a:pPr>
              <a:spcBef>
                <a:spcPts val="100"/>
              </a:spcBef>
              <a:spcAft>
                <a:spcPts val="400"/>
              </a:spcAft>
              <a:defRPr sz="1400">
                <a:solidFill>
                  <a:srgbClr val="E8E8F0"/>
                </a:solidFill>
              </a:defRPr>
            </a:pPr>
            <a:r>
              <a:t>**经典题目三：部分有序数组的排序（如“几乎已排序”的数组）**</a:t>
            </a:r>
          </a:p>
          <a:p>
            <a:pPr>
              <a:spcBef>
                <a:spcPts val="100"/>
              </a:spcBef>
              <a:spcAft>
                <a:spcPts val="400"/>
              </a:spcAft>
              <a:defRPr sz="1400">
                <a:solidFill>
                  <a:srgbClr val="E8E8F0"/>
                </a:solidFill>
              </a:defRPr>
            </a:pPr>
            <a:r>
              <a:t>有时题目会给出一个“大部分元素已经有序，仅少数位置错乱”的数组，要求将其完全排序。冒泡排序对此类输入特别高效，因为其优化版本（带 swapped 标志）可以在发现某一趟无交换时提前终止。如果数组已经接近有序，冒泡排序只需很少的趟数即可完成，时间复杂度接近 \(O(n)\)。例如，题目描述“给定一个长度为 \(n\) 的数组，其中每个元素与其最终位置的偏差不超过 \(k\)”，且 \(k\) 很小（如 \(k \leq 10\)），此时冒泡排序内层循环只需比较相邻元素，实际执行次数约为 \(O(nk)\)，远优于普通 \(O(n^2)\)。相比插入排序或快速排序，冒泡排序的稳定性（相等元素不交换）和极简实现使其在特定约束下成为首选。</a:t>
            </a:r>
          </a:p>
          <a:p>
            <a:pPr>
              <a:spcBef>
                <a:spcPts val="100"/>
              </a:spcBef>
              <a:spcAft>
                <a:spcPts val="400"/>
              </a:spcAft>
              <a:defRPr sz="1400">
                <a:solidFill>
                  <a:srgbClr val="E8E8F0"/>
                </a:solidFill>
              </a:defRPr>
            </a:pPr>
            <a:r>
              <a:t>**经典题目四：最小交换次数使数组有序（只能交换相邻元素）**</a:t>
            </a:r>
          </a:p>
          <a:p>
            <a:pPr>
              <a:spcBef>
                <a:spcPts val="100"/>
              </a:spcBef>
              <a:spcAft>
                <a:spcPts val="400"/>
              </a:spcAft>
              <a:defRPr sz="1400">
                <a:solidFill>
                  <a:srgbClr val="E8E8F0"/>
                </a:solidFill>
              </a:defRPr>
            </a:pPr>
            <a:r>
              <a:t>有一类题目：只能通过交换相邻元素来使数组升序，求最小交换次数。该问题本质上等价于求逆序对数量，因为每交换一次相邻元素恰好消除一个逆序对。因此，冒泡排序天然的交换计数结果就是答案。输入范围通常为 \(n \leq 5000\)，且元素值不重复（或需先映射到1~n）。例如，题目“将序列通过相邻交换变为严格递增的最小操作次数”中，若使用冒泡排序，直接累加交换次数即可；而使用归并排序求逆序对虽然高效，但需要额外 \(O(n)\) 空间，且代码更复杂。在数据规模小的情况下，冒泡排序的简洁性和正确性更受青睐。</a:t>
            </a:r>
          </a:p>
          <a:p>
            <a:pPr>
              <a:spcBef>
                <a:spcPts val="100"/>
              </a:spcBef>
              <a:spcAft>
                <a:spcPts val="200"/>
              </a:spcAft>
              <a:defRPr sz="1100">
                <a:solidFill>
                  <a:srgbClr val="A8D880"/>
                </a:solidFill>
                <a:latin typeface="Consolas"/>
              </a:defRPr>
            </a:pPr>
            <a:r>
              <a:t>  def min_swaps_to_sort(arr):</a:t>
            </a:r>
            <a:br/>
            <a:r>
              <a:t>      n = len(arr)</a:t>
            </a:r>
            <a:br/>
            <a:r>
              <a:t>      swaps = 0</a:t>
            </a:r>
            <a:br/>
            <a:r>
              <a:t>      for i in range(n-1):</a:t>
            </a:r>
            <a:br/>
            <a:r>
              <a:t>          swapped = False</a:t>
            </a:r>
            <a:br/>
            <a:r>
              <a:t>          for j in range(n-1-i):</a:t>
            </a:r>
            <a:br/>
            <a:r>
              <a:t>              if arr[j] &gt; arr[j+1]:</a:t>
            </a:r>
            <a:br/>
            <a:r>
              <a:t>                  arr[j], arr[j+1] = arr[j+1], arr[j]</a:t>
            </a:r>
            <a:br/>
            <a:r>
              <a:t>                  swaps += 1</a:t>
            </a:r>
            <a:br/>
            <a:r>
              <a:t>                  swapped = True</a:t>
            </a:r>
            <a:br/>
            <a:r>
              <a:t>          if not swapped:</a:t>
            </a:r>
            <a:br/>
            <a:r>
              <a:t>              break</a:t>
            </a:r>
            <a:br/>
            <a:r>
              <a:t>      return swaps</a:t>
            </a:r>
          </a:p>
          <a:p>
            <a:pPr>
              <a:spcBef>
                <a:spcPts val="100"/>
              </a:spcBef>
              <a:spcAft>
                <a:spcPts val="400"/>
              </a:spcAft>
              <a:defRPr sz="1400">
                <a:solidFill>
                  <a:srgbClr val="E8E8F0"/>
                </a:solidFill>
              </a:defRPr>
            </a:pPr>
            <a:r>
              <a:t>**经典题目五：对链表进行排序（如小规模链表排序）**</a:t>
            </a:r>
          </a:p>
          <a:p>
            <a:pPr>
              <a:spcBef>
                <a:spcPts val="100"/>
              </a:spcBef>
              <a:spcAft>
                <a:spcPts val="400"/>
              </a:spcAft>
              <a:defRPr sz="1400">
                <a:solidFill>
                  <a:srgbClr val="E8E8F0"/>
                </a:solidFill>
              </a:defRPr>
            </a:pPr>
            <a:r>
              <a:t>冒泡排序可以自然地应用于单链表，无需随机访问，只需交换节点值或调整指针。例如，口头面试题“对长度为 \(n\)（\(n \leq 100\)）的单链表进行升序排序”，由于链表无法像数组那样快速定位，插入排序和选择排序均可，但冒泡排序通过多次遍历链表并比较相邻节点值，每次将最大值移至末尾，代码实现清晰。输入范围限制很小（如 \(n \leq 200\)），因为冒泡排序需要 \(O(n^2)\) 次比较。相比归并排序的 \(O(n \log n)\) 对链表更优，但冒泡排序的代码量少、易于调试，特别适合在面试现场快速写出正确解法。</a:t>
            </a:r>
          </a:p>
          <a:p>
            <a:pPr>
              <a:spcBef>
                <a:spcPts val="100"/>
              </a:spcBef>
              <a:spcAft>
                <a:spcPts val="400"/>
              </a:spcAft>
              <a:defRPr sz="1400">
                <a:solidFill>
                  <a:srgbClr val="E8E8F0"/>
                </a:solidFill>
              </a:defRPr>
            </a:pPr>
            <a:r>
              <a:t>---</a:t>
            </a:r>
          </a:p>
          <a:p>
            <a:pPr>
              <a:spcBef>
                <a:spcPts val="100"/>
              </a:spcBef>
              <a:spcAft>
                <a:spcPts val="400"/>
              </a:spcAft>
              <a:defRPr sz="1400">
                <a:solidFill>
                  <a:srgbClr val="E8E8F0"/>
                </a:solidFill>
              </a:defRPr>
            </a:pPr>
            <a:r>
              <a:t>**分析每道题的输入范围、约束条件和评测数据规模**</a:t>
            </a:r>
          </a:p>
          <a:p>
            <a:pPr>
              <a:spcBef>
                <a:spcPts val="100"/>
              </a:spcBef>
              <a:spcAft>
                <a:spcPts val="400"/>
              </a:spcAft>
              <a:defRPr sz="1400">
                <a:solidFill>
                  <a:srgbClr val="E8E8F0"/>
                </a:solidFill>
              </a:defRPr>
            </a:pPr>
            <a:r>
              <a:t>第一题（直接排序）通常出现在新手练习中，输入 \(n \leq 1000\)，时间限制 1s，冒泡排序 \(10^6\) 次比较完全可行。第二题（逆序对）若使用冒泡排序，数据规模常限制在 \(n \leq 5000\)，以免超时。第三题（部分有序）中，数组长度可达 \(10^5\)，但元素偏移 \(k \leq 10\)，冒泡排序优化后实际趟数接近 \(k\)，复杂度 \(O(nk)\)，可勉强通过。第四题（最小相邻交换）中 \(n \leq 5000\)，若 \(n\) 再大则需改用归并排序。第五题（链表排序）中节点数通常不超过 200，以确保在 O(n²) 内完成。总而言之，冒泡排序的适用场景明确：数据规模小（通常 \(n \leq 5000\)）、需要稳定排序、统计交换次数、或数组已接近有序。评测数据规模是判断是否使用冒泡排序的关键指标。</a:t>
            </a:r>
          </a:p>
          <a:p>
            <a:pPr>
              <a:spcBef>
                <a:spcPts val="100"/>
              </a:spcBef>
              <a:spcAft>
                <a:spcPts val="400"/>
              </a:spcAft>
              <a:defRPr sz="1400">
                <a:solidFill>
                  <a:srgbClr val="E8E8F0"/>
                </a:solidFill>
              </a:defRPr>
            </a:pPr>
            <a:r>
              <a:t>---</a:t>
            </a:r>
          </a:p>
          <a:p>
            <a:pPr>
              <a:spcBef>
                <a:spcPts val="100"/>
              </a:spcBef>
              <a:spcAft>
                <a:spcPts val="400"/>
              </a:spcAft>
              <a:defRPr sz="1400">
                <a:solidFill>
                  <a:srgbClr val="E8E8F0"/>
                </a:solidFill>
              </a:defRPr>
            </a:pPr>
            <a:r>
              <a:t>**对比不同解法的优劣，展示冒泡排序在特定场景下的优越性**</a:t>
            </a:r>
          </a:p>
          <a:p>
            <a:pPr>
              <a:spcBef>
                <a:spcPts val="100"/>
              </a:spcBef>
              <a:spcAft>
                <a:spcPts val="400"/>
              </a:spcAft>
              <a:defRPr sz="1400">
                <a:solidFill>
                  <a:srgbClr val="E8E8F0"/>
                </a:solidFill>
              </a:defRPr>
            </a:pPr>
            <a:r>
              <a:t>与快速排序比较：快速排序平均 \(O(n \log n)\)，但最坏 \(O(n^2)\)，且不稳定。冒泡排序稳定、实现简单，在 \(n\) 很小时常数因子更优（快速排序的递归开销和主元选取增加分支成本）。</a:t>
            </a:r>
          </a:p>
          <a:p>
            <a:pPr>
              <a:spcBef>
                <a:spcPts val="100"/>
              </a:spcBef>
              <a:spcAft>
                <a:spcPts val="400"/>
              </a:spcAft>
              <a:defRPr sz="1400">
                <a:solidFill>
                  <a:srgbClr val="E8E8F0"/>
                </a:solidFill>
              </a:defRPr>
            </a:pPr>
            <a:r>
              <a:t>与归并排序比较：归并排序需要 \(O(n)\) 额外空间，而冒泡排序是原地排序。在统计逆序对时，冒泡排序可以边排序边计数，省去合并步骤的复杂逻辑。</a:t>
            </a:r>
          </a:p>
          <a:p>
            <a:pPr>
              <a:spcBef>
                <a:spcPts val="100"/>
              </a:spcBef>
              <a:spcAft>
                <a:spcPts val="400"/>
              </a:spcAft>
              <a:defRPr sz="1400">
                <a:solidFill>
                  <a:srgbClr val="E8E8F0"/>
                </a:solidFill>
              </a:defRPr>
            </a:pPr>
            <a:r>
              <a:t>与插入排序比较：插入排序在数组基本有序时同样高效，但插入排序需要移动元素（数组实现）或修改指针（链表实现），而冒泡排序仅比较相邻元素，代码更直观。对于链表而言，冒泡排序无需追溯前驱节点，只需双重循环扫描。</a:t>
            </a:r>
          </a:p>
          <a:p>
            <a:pPr>
              <a:spcBef>
                <a:spcPts val="100"/>
              </a:spcBef>
              <a:spcAft>
                <a:spcPts val="400"/>
              </a:spcAft>
              <a:defRPr sz="1400">
                <a:solidFill>
                  <a:srgbClr val="E8E8F0"/>
                </a:solidFill>
              </a:defRPr>
            </a:pPr>
            <a:r>
              <a:t>优越性总结：当数据规模小（\(n \leq 5000\)）、数据重复较多需保持稳定性、或题目要求输出交换次数时，冒泡排序是“够用且最简单”的方案。特别是在教学和面试中，冒泡排序的清晰逻辑能让面试官快速理解你的思路，避免在复杂算法上出错。</a:t>
            </a:r>
          </a:p>
          <a:p>
            <a:pPr>
              <a:spcBef>
                <a:spcPts val="100"/>
              </a:spcBef>
              <a:spcAft>
                <a:spcPts val="400"/>
              </a:spcAft>
              <a:defRPr sz="1400">
                <a:solidFill>
                  <a:srgbClr val="E8E8F0"/>
                </a:solidFill>
              </a:defRPr>
            </a:pPr>
            <a:r>
              <a:t>---</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B26"/>
        </a:solidFill>
        <a:effectLst/>
      </p:bgPr>
    </p:bg>
    <p:spTree>
      <p:nvGrpSpPr>
        <p:cNvPr id="1" name=""/>
        <p:cNvGrpSpPr/>
        <p:nvPr/>
      </p:nvGrpSpPr>
      <p:grpSpPr/>
      <p:sp>
        <p:nvSpPr>
          <p:cNvPr id="2" name="TextBox 1"/>
          <p:cNvSpPr txBox="1"/>
          <p:nvPr/>
        </p:nvSpPr>
        <p:spPr>
          <a:xfrm>
            <a:off x="731520" y="320040"/>
            <a:ext cx="13167360" cy="640080"/>
          </a:xfrm>
          <a:prstGeom prst="rect">
            <a:avLst/>
          </a:prstGeom>
          <a:noFill/>
        </p:spPr>
        <p:txBody>
          <a:bodyPr wrap="square">
            <a:spAutoFit/>
          </a:bodyPr>
          <a:lstStyle/>
          <a:p>
            <a:pPr>
              <a:defRPr sz="2200" b="1">
                <a:solidFill>
                  <a:srgbClr val="7DC8FF"/>
                </a:solidFill>
              </a:defRPr>
            </a:pPr>
            <a:r>
              <a:t>总结与进阶方向</a:t>
            </a:r>
          </a:p>
        </p:txBody>
      </p:sp>
      <p:sp>
        <p:nvSpPr>
          <p:cNvPr id="3" name="Rectangle 2"/>
          <p:cNvSpPr/>
          <p:nvPr/>
        </p:nvSpPr>
        <p:spPr>
          <a:xfrm>
            <a:off x="731520" y="1005840"/>
            <a:ext cx="2286000" cy="25400"/>
          </a:xfrm>
          <a:prstGeom prst="rect">
            <a:avLst/>
          </a:prstGeom>
          <a:solidFill>
            <a:srgbClr val="7D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3167360" cy="6217920"/>
          </a:xfrm>
          <a:prstGeom prst="rect">
            <a:avLst/>
          </a:prstGeom>
          <a:noFill/>
        </p:spPr>
        <p:txBody>
          <a:bodyPr wrap="square">
            <a:spAutoFit/>
          </a:bodyPr>
          <a:lstStyle/>
          <a:p>
            <a:pPr>
              <a:spcBef>
                <a:spcPts val="100"/>
              </a:spcBef>
              <a:spcAft>
                <a:spcPts val="400"/>
              </a:spcAft>
              <a:defRPr sz="1400">
                <a:solidFill>
                  <a:srgbClr val="E8E8F0"/>
                </a:solidFill>
              </a:defRPr>
            </a:pPr>
            <a:r>
              <a:t>**回顾冒泡排序的核心知识点：原理、实现、复杂度、适用场景**</a:t>
            </a:r>
          </a:p>
          <a:p>
            <a:pPr>
              <a:spcBef>
                <a:spcPts val="100"/>
              </a:spcBef>
              <a:spcAft>
                <a:spcPts val="400"/>
              </a:spcAft>
              <a:defRPr sz="1400">
                <a:solidFill>
                  <a:srgbClr val="E8E8F0"/>
                </a:solidFill>
              </a:defRPr>
            </a:pPr>
            <a:r>
              <a:t>冒泡排序的核心思想是通过相邻元素的比较与交换，将较大的元素“冒泡”到数组末尾。每一轮遍历都会确定一个最大值的位置，最多进行 n-1 轮即可完成排序。其时间复杂度为 O(n²)，空间复杂度为 O(1)，是一种稳定的排序算法。适用场景主要是小规模数据或基本有序的数组（优化后可提前终止）。例如，对一个长度为 5 的数组 `[5,3,8,1,2]`，第一轮比较交换后 `[3,5,1,2,8]`，第二轮 `[3,1,2,5,8]`，第三轮 `[1,2,3,5,8]` 即完成。虽然效率不高，但它的简洁性使其成为学习排序算法的最佳入门案例。</a:t>
            </a:r>
          </a:p>
          <a:p>
            <a:pPr>
              <a:spcBef>
                <a:spcPts val="100"/>
              </a:spcBef>
              <a:spcAft>
                <a:spcPts val="400"/>
              </a:spcAft>
              <a:defRPr sz="1400">
                <a:solidFill>
                  <a:srgbClr val="E8E8F0"/>
                </a:solidFill>
              </a:defRPr>
            </a:pPr>
            <a:r>
              <a:t>**总结常见易错点：边界条件、类型溢出、特殊输入处理**</a:t>
            </a:r>
          </a:p>
          <a:p>
            <a:pPr>
              <a:spcBef>
                <a:spcPts val="100"/>
              </a:spcBef>
              <a:spcAft>
                <a:spcPts val="200"/>
              </a:spcAft>
              <a:defRPr sz="1100">
                <a:solidFill>
                  <a:srgbClr val="A8D880"/>
                </a:solidFill>
                <a:latin typeface="Consolas"/>
              </a:defRPr>
            </a:pPr>
            <a:r>
              <a:t>实现冒泡排序时，最容易出错的是外层循环和内层循环的边界条件。例如，外层循环正确控制轮数为 `n-1` 次，内层循环比较范围应为 `0` 到 `n-1-i`（`i` 为已排序元素个数），若写成 `0` 到 `n-1` 则会访问越界或进行多余比较。另一个易错点是整数溢出：当数组中存储的是大整数或负数时，交换操作如果使用临时变量则不会溢出，但如果用加减法交换（`a = a + b; b = a - b; a = a - b;`）可能导致溢出，建议使用临时变量或 `std::swap`。特殊输入包括空数组、单元素数组、已排序数组和重复元素数组。空数组或单元素直接返回；已排序数组可以通过添加标志位（如 `bool swapped`）提前退出，避免不必要的比较；重复元素不影响稳定性，但需注意比较时使用 `&gt;` 还是 `&gt;=`（稳定排序应使用 `&gt;` 避免交换相等元素）。</a:t>
            </a:r>
          </a:p>
          <a:p>
            <a:pPr>
              <a:spcBef>
                <a:spcPts val="100"/>
              </a:spcBef>
              <a:spcAft>
                <a:spcPts val="400"/>
              </a:spcAft>
              <a:defRPr sz="1400">
                <a:solidFill>
                  <a:srgbClr val="E8E8F0"/>
                </a:solidFill>
              </a:defRPr>
            </a:pPr>
            <a:r>
              <a:t>**推荐进阶学习路径：相关算法变体、更复杂的应用场景、与其他算法的组合使用**</a:t>
            </a:r>
          </a:p>
          <a:p>
            <a:pPr>
              <a:spcBef>
                <a:spcPts val="100"/>
              </a:spcBef>
              <a:spcAft>
                <a:spcPts val="400"/>
              </a:spcAft>
              <a:defRPr sz="1400">
                <a:solidFill>
                  <a:srgbClr val="E8E8F0"/>
                </a:solidFill>
              </a:defRPr>
            </a:pPr>
            <a:r>
              <a:t>掌握基础冒泡排序后，可探索其变体：**鸡尾酒排序**（双向冒泡）在每一轮中先从左向右冒泡最大值，再从右向左冒泡最小值，对大部分有序的数组效率更高；**奇偶排序**（奇偶交换排序）适用于并行计算，通过交替比较奇偶相邻对来实现。更复杂的应用场景包括：用冒泡排序的思想解决“找出第 k 大/小元素”问题（每一轮确定一个极值，若 k 较小则只需部分轮次）；冒泡排序还可作为插入排序的辅助（当数组接近有序时，冒泡排序的优化版接近 O(n)）。与其他算法组合使用时，例如在快速排序中，当子数组长度小于某个阈值时改用插入排序或冒泡排序减少递归开销；在归并排序中，对小规模子数组使用冒泡排序可降低常数因子。进阶学习者还应关注排序稳定性、比较次数与交换次数的理论下界，以及如何用冒泡排序的交换次数统计数组中逆序对的数量（一个直接的应用）。</a:t>
            </a:r>
          </a:p>
          <a:p>
            <a:pPr>
              <a:spcBef>
                <a:spcPts val="100"/>
              </a:spcBef>
              <a:spcAft>
                <a:spcPts val="400"/>
              </a:spcAft>
              <a:defRPr sz="1400">
                <a:solidFill>
                  <a:srgbClr val="E8E8F0"/>
                </a:solidFill>
              </a:defRPr>
            </a:pPr>
            <a:r>
              <a:t>**从冒泡排序延伸到更广阔的知识体系，培养系统化的算法思维**</a:t>
            </a:r>
          </a:p>
          <a:p>
            <a:pPr>
              <a:spcBef>
                <a:spcPts val="100"/>
              </a:spcBef>
              <a:spcAft>
                <a:spcPts val="400"/>
              </a:spcAft>
              <a:defRPr sz="1400">
                <a:solidFill>
                  <a:srgbClr val="E8E8F0"/>
                </a:solidFill>
              </a:defRPr>
            </a:pPr>
            <a:r>
              <a:t>冒泡排序虽简单，却是一扇通往算法世界的大门。它直观展现了“比较-交换”这一基础操作范式，这种思维可以推广到**选择排序**（每轮找最小然后交换）、**插入排序**（将元素插入已排序部分）以及**堆排序**（利用堆结构快速取极值）。理解冒泡排序的稳定性，能帮你领会为什么某些排序算法（如快速排序）不稳定，进而指导你在需要稳定排序时选择合适的算法（如归并排序）。空间复杂度的概念从此刻奠基：冒泡排序是原地排序，对比需要额外空间的归并排序，让你思考时间与空间的权衡。更重要的是，冒泡排序的优化过程（加标志位、记录最后交换位置等）训练了你的**算法改进思维**——从最坏情况出发，逐步用“剪枝”和“提前终止”提升性能。这种思维可以迁移到 DFS/BFS 中的剪枝、动态规划中的状态压缩等更高级技巧。所以，请认真对待冒泡排序，它不仅仅是一段代码，而是你算法思维体系的第一个基石。</a:t>
            </a:r>
          </a:p>
        </p:txBody>
      </p:sp>
      <p:sp>
        <p:nvSpPr>
          <p:cNvPr id="5" name="TextBox 4"/>
          <p:cNvSpPr txBox="1"/>
          <p:nvPr/>
        </p:nvSpPr>
        <p:spPr>
          <a:xfrm>
            <a:off x="12344400" y="7680960"/>
            <a:ext cx="2286000" cy="365760"/>
          </a:xfrm>
          <a:prstGeom prst="rect">
            <a:avLst/>
          </a:prstGeom>
          <a:noFill/>
        </p:spPr>
        <p:txBody>
          <a:bodyPr wrap="none">
            <a:spAutoFit/>
          </a:bodyPr>
          <a:lstStyle/>
          <a:p>
            <a:pPr algn="r">
              <a:defRPr sz="900">
                <a:solidFill>
                  <a:srgbClr val="555555"/>
                </a:solidFill>
              </a:defRPr>
            </a:pPr>
            <a:r>
              <a:t>AlgoAscend AI  ·  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