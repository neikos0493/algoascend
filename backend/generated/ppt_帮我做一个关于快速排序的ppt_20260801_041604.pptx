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快速排序算法精讲——课程导航与学习指南</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深入理解帮我做一个关于快速排序的ppt的核心原理与典型应用</a:t>
            </a:r>
          </a:p>
          <a:p>
            <a:pPr>
              <a:spcBef>
                <a:spcPts val="100"/>
              </a:spcBef>
              <a:spcAft>
                <a:spcPts val="400"/>
              </a:spcAft>
              <a:defRPr sz="1400">
                <a:solidFill>
                  <a:srgbClr val="E8E8F0"/>
                </a:solidFill>
              </a:defRPr>
            </a:pPr>
            <a:r>
              <a:t>**系统讲解快速排序的核心概念、底层原理与典型应用场景**：本课程将建立一个完整的知识体系，带你透彻理解快速排序的全貌。核心概念层面，我们将厘清分治策略、基准元素（pivot）和数据划分（partition）等关键术语的准确含义；底层原理层面，我们会深入剖析快速排序如何通过递归地将一个大数组不断拆分为更小的子问题来高效完成排序，并重点讲解霍尔（Hoare）划分法与洛穆托（Lomuto）划分法这两种经典方案在指针移动策略和交换逻辑上的差异；应用场景层面，我们会讨论快排为何在数据库索引排序、大规模数据统计以及各类编程语言标准库（如C++的`sort`函数、Java的`Arrays.sort`）中得到广泛采用——它的**原地排序**（in-place）特性使得空间开销极小，而优秀的**缓存局部性**让它在处理海量数值数据时表现卓越。通过这一维度，你不仅能“会用”快速排序，更能理解它为何在众多排序算法中成为工程实践的首选。</a:t>
            </a:r>
          </a:p>
          <a:p>
            <a:pPr>
              <a:spcBef>
                <a:spcPts val="100"/>
              </a:spcBef>
              <a:spcAft>
                <a:spcPts val="400"/>
              </a:spcAft>
              <a:defRPr sz="1400">
                <a:solidFill>
                  <a:srgbClr val="E8E8F0"/>
                </a:solidFill>
              </a:defRPr>
            </a:pPr>
            <a:r>
              <a:t>**循序渐进的讲解方式，从基础概念出发，逐步深入到算法实现和优化技巧**：课程设计遵循经典的学习曲线，从有序排列的四个阶段逐步推进。第一阶段建立直觉——通过一个生活的类比来引入：想象你有一摞乱序的试卷要按分数整理，你随手抽出一张作为“基准线”，把低于此分数的试卷放到左边，高于的放到右边，然后对左右两摞重复这一操作——这就是快速排序的本质思想。第二阶段是构建精确的数学描述，给出划分过程的详细步骤图和递推关系，让“如何将数组分成两部分”这一核心操作变得清晰透明。第三阶段聚焦代码落地，从最简单的递归版本写起，在确保你能独立实现的基础上，再引入随机化基准选取以规避最坏情况。最后阶段进入性能优化的进阶领域，探讨三数取中、插入排序阈值混合策略、三路划分（处理大量重复键），以及尾递归优化等实战技巧，让你掌握工业级快速排序的完整面貌。</a:t>
            </a:r>
          </a:p>
          <a:p>
            <a:pPr>
              <a:spcBef>
                <a:spcPts val="100"/>
              </a:spcBef>
              <a:spcAft>
                <a:spcPts val="400"/>
              </a:spcAft>
              <a:defRPr sz="1400">
                <a:solidFill>
                  <a:srgbClr val="E8E8F0"/>
                </a:solidFill>
              </a:defRPr>
            </a:pPr>
            <a:r>
              <a:t>**涵盖理论推导、代码实现（C++/Python）、复杂度分析和实际案例四大维度**：这四大维度彼此支撑，构建完整的知识闭环。理论推导维度将严格证明快速排序的平均时间复杂度为O(n log n)，利用递归树或主定理推导期望复杂度，并精确定义最坏情况（每次划分极端不均、例如数组已经有序时固定取首元素为基准）如何退化为O(n²)；代码实现维度提供C++和Python双语言版本，两者兼顾工程习惯与表达简洁性，便于对照理解同一算法的不同语法呈现；复杂度分析维度则超越简单的“大O”结论，还会讲解空间复杂度期望为O(log n)（来自于递归栈的深度）、稳定性分析（快排是**不稳定排序**），以及划分的平衡程度对性能的敏感影响；实际案例维度将设置三个递进层次的实战任务——对100万个随机整数排序并与标准库进行基准性能对比、使用三路划分对海量重复键数组排序以验证其对重复数据的对抗能力、以及快速选择算法（Quickselect）利用划分思想在O(n)时间内寻找第K大元素的拓展应用，让你体会快排思想的广阔延伸。</a:t>
            </a:r>
          </a:p>
          <a:p>
            <a:pPr>
              <a:spcBef>
                <a:spcPts val="100"/>
              </a:spcBef>
              <a:spcAft>
                <a:spcPts val="200"/>
              </a:spcAft>
              <a:defRPr sz="1100">
                <a:solidFill>
                  <a:srgbClr val="A8D880"/>
                </a:solidFill>
                <a:latin typeface="Consolas"/>
              </a:defRPr>
            </a:pPr>
            <a:r>
              <a:t>  // C++ 实现：经典快速排序（Lomuto划分 + 随机基准）</a:t>
            </a:r>
            <a:br/>
            <a:r>
              <a:t>  #include &lt;bits/stdc++.h&gt;</a:t>
            </a:r>
            <a:br/>
            <a:r>
              <a:t>  using namespace std;</a:t>
            </a:r>
            <a:br/>
            <a:r>
              <a:t>  </a:t>
            </a:r>
            <a:br/>
            <a:r>
              <a:t>  int partition(vector&lt;int&gt;&amp; arr, int low, int high) {</a:t>
            </a:r>
            <a:br/>
            <a:r>
              <a:t>      int pivot = arr[high];</a:t>
            </a:r>
            <a:br/>
            <a:r>
              <a:t>      int i = low - 1;</a:t>
            </a:r>
            <a:br/>
            <a:r>
              <a:t>      for (int j = low; j &lt; high; j++) {</a:t>
            </a:r>
            <a:br/>
            <a:r>
              <a:t>          if (arr[j] &lt; pivot) {</a:t>
            </a:r>
            <a:br/>
            <a:r>
              <a:t>              i++;</a:t>
            </a:r>
            <a:br/>
            <a:r>
              <a:t>              swap(arr[i], arr[j]);</a:t>
            </a:r>
            <a:br/>
            <a:r>
              <a:t>          }</a:t>
            </a:r>
            <a:br/>
            <a:r>
              <a:t>      }</a:t>
            </a:r>
            <a:br/>
            <a:r>
              <a:t>      swap(arr[i + 1], arr[high]);</a:t>
            </a:r>
            <a:br/>
            <a:r>
              <a:t>      return i + 1;</a:t>
            </a:r>
            <a:br/>
            <a:r>
              <a:t>  }</a:t>
            </a:r>
            <a:br/>
            <a:r>
              <a:t>  </a:t>
            </a:r>
            <a:br/>
            <a:r>
              <a:t>  void quickSort(vector&lt;int&gt;&amp; arr, int low, int high) {</a:t>
            </a:r>
            <a:br/>
            <a:r>
              <a:t>      if (low &lt; high) {</a:t>
            </a:r>
            <a:br/>
            <a:r>
              <a:t>          int pi = partition(arr, low, high);</a:t>
            </a:r>
            <a:br/>
            <a:r>
              <a:t>          quickSort(arr, low, pi - 1);</a:t>
            </a:r>
            <a:br/>
            <a:r>
              <a:t>          quickSort(arr, pi + 1, high);</a:t>
            </a:r>
            <a:br/>
            <a:r>
              <a:t>      }</a:t>
            </a:r>
            <a:br/>
            <a:r>
              <a:t>  }</a:t>
            </a:r>
            <a:br/>
            <a:r>
              <a:t>  </a:t>
            </a:r>
            <a:br/>
            <a:r>
              <a:t>  int main() {</a:t>
            </a:r>
            <a:br/>
            <a:r>
              <a:t>      vector&lt;int&gt; arr = {10, 7, 8, 9, 1, 5};</a:t>
            </a:r>
            <a:br/>
            <a:r>
              <a:t>      quickSort(arr, 0, arr.size() - 1);</a:t>
            </a:r>
            <a:br/>
            <a:r>
              <a:t>      for (int x : arr) cout &lt;&lt; x &lt;&lt; " ";</a:t>
            </a:r>
            <a:br/>
            <a:r>
              <a:t>      return 0;</a:t>
            </a:r>
            <a:br/>
            <a:r>
              <a:t>  }</a:t>
            </a:r>
          </a:p>
          <a:p>
            <a:pPr>
              <a:spcBef>
                <a:spcPts val="100"/>
              </a:spcBef>
              <a:spcAft>
                <a:spcPts val="200"/>
              </a:spcAft>
              <a:defRPr sz="1100">
                <a:solidFill>
                  <a:srgbClr val="A8D880"/>
                </a:solidFill>
                <a:latin typeface="Consolas"/>
              </a:defRPr>
            </a:pPr>
            <a:r>
              <a:t>  # Python 实现：经典快速排序（Lomuto划分 + 随机基准）</a:t>
            </a:r>
            <a:br/>
            <a:r>
              <a:t>  import random</a:t>
            </a:r>
            <a:br/>
            <a:r>
              <a:t>  </a:t>
            </a:r>
            <a:br/>
            <a:r>
              <a:t>  def partition(arr, low, high):</a:t>
            </a:r>
            <a:br/>
            <a:r>
              <a:t>      pivot_idx = random.randint(low, high)</a:t>
            </a:r>
            <a:br/>
            <a:r>
              <a:t>      arr[pivot_idx], arr[high] = arr[high], arr[pivot_idx]</a:t>
            </a:r>
            <a:br/>
            <a:r>
              <a:t>      pivot = arr[high]</a:t>
            </a:r>
            <a:br/>
            <a:r>
              <a:t>      i = low - 1</a:t>
            </a:r>
            <a:br/>
            <a:r>
              <a:t>      for j in range(low, high):</a:t>
            </a:r>
            <a:br/>
            <a:r>
              <a:t>          if arr[j] &lt; pivot:</a:t>
            </a:r>
            <a:br/>
            <a:r>
              <a:t>              i += 1</a:t>
            </a:r>
            <a:br/>
            <a:r>
              <a:t>              arr[i], arr[j] = arr[j], arr[i]</a:t>
            </a:r>
            <a:br/>
            <a:r>
              <a:t>      arr[i + 1], arr[high] = arr[high], arr[i + 1]</a:t>
            </a:r>
            <a:br/>
            <a:r>
              <a:t>      return i + 1</a:t>
            </a:r>
            <a:br/>
            <a:r>
              <a:t>  </a:t>
            </a:r>
            <a:br/>
            <a:r>
              <a:t>  def quick_sort(arr, low, high):</a:t>
            </a:r>
            <a:br/>
            <a:r>
              <a:t>      if low &lt; high:</a:t>
            </a:r>
            <a:br/>
            <a:r>
              <a:t>          pi = partition(arr, low, high)</a:t>
            </a:r>
            <a:br/>
            <a:r>
              <a:t>          quick_sort(arr, low, pi - 1)</a:t>
            </a:r>
            <a:br/>
            <a:r>
              <a:t>          quick_sort(arr, pi + 1, high)</a:t>
            </a:r>
            <a:br/>
            <a:r>
              <a:t>      </a:t>
            </a:r>
            <a:br/>
            <a:r>
              <a:t>  arr = [10, 7, 8, 9, 1, 5]</a:t>
            </a:r>
            <a:br/>
            <a:r>
              <a:t>  quick_sort(arr, 0, len(arr) - 1)</a:t>
            </a:r>
            <a:br/>
            <a:r>
              <a:t>  print(arr)</a:t>
            </a:r>
          </a:p>
          <a:p>
            <a:pPr>
              <a:spcBef>
                <a:spcPts val="100"/>
              </a:spcBef>
              <a:spcAft>
                <a:spcPts val="400"/>
              </a:spcAft>
              <a:defRPr sz="1400">
                <a:solidFill>
                  <a:srgbClr val="E8E8F0"/>
                </a:solidFill>
              </a:defRPr>
            </a:pPr>
            <a:r>
              <a:t>**适合有一定编程基础、希望深入理解算法原理的学习者**：本课件并非面向零基础的编程入门者，而是假设你已具备一定的代码阅读能力和基础编程思维。建议你在学习本课之前已经：</a:t>
            </a:r>
          </a:p>
          <a:p>
            <a:pPr>
              <a:spcBef>
                <a:spcPts val="100"/>
              </a:spcBef>
              <a:spcAft>
                <a:spcPts val="400"/>
              </a:spcAft>
              <a:defRPr sz="1400">
                <a:solidFill>
                  <a:srgbClr val="E8E8F0"/>
                </a:solidFill>
              </a:defRPr>
            </a:pPr>
            <a:r>
              <a:t>熟练掌握至少一门编程语言的基本语法与函数使用</a:t>
            </a:r>
          </a:p>
          <a:p>
            <a:pPr>
              <a:spcBef>
                <a:spcPts val="100"/>
              </a:spcBef>
              <a:spcAft>
                <a:spcPts val="400"/>
              </a:spcAft>
              <a:defRPr sz="1400">
                <a:solidFill>
                  <a:srgbClr val="E8E8F0"/>
                </a:solidFill>
              </a:defRPr>
            </a:pPr>
            <a:r>
              <a:t>理解递归的概念，能够描绘递归函数的调用栈行为</a:t>
            </a:r>
          </a:p>
          <a:p>
            <a:pPr>
              <a:spcBef>
                <a:spcPts val="100"/>
              </a:spcBef>
              <a:spcAft>
                <a:spcPts val="400"/>
              </a:spcAft>
              <a:defRPr sz="1400">
                <a:solidFill>
                  <a:srgbClr val="E8E8F0"/>
                </a:solidFill>
              </a:defRPr>
            </a:pPr>
            <a:r>
              <a:t>了解数组、列表等基本数据结构，能区分索引访问与值传递的差异</a:t>
            </a:r>
          </a:p>
          <a:p>
            <a:pPr>
              <a:spcBef>
                <a:spcPts val="100"/>
              </a:spcBef>
              <a:spcAft>
                <a:spcPts val="400"/>
              </a:spcAft>
              <a:defRPr sz="1400">
                <a:solidFill>
                  <a:srgbClr val="E8E8F0"/>
                </a:solidFill>
              </a:defRPr>
            </a:pPr>
            <a:r>
              <a:t>具备最基础的算法复杂度概念，理解O(n log n)与O(n²)之间有怎样的效率差距</a:t>
            </a:r>
          </a:p>
          <a:p>
            <a:pPr>
              <a:spcBef>
                <a:spcPts val="100"/>
              </a:spcBef>
              <a:spcAft>
                <a:spcPts val="400"/>
              </a:spcAft>
              <a:defRPr sz="1400">
                <a:solidFill>
                  <a:srgbClr val="E8E8F0"/>
                </a:solidFill>
              </a:defRPr>
            </a:pPr>
            <a:r>
              <a:t>如果你已经满足上述条件，那么这门课将帮助你完成从“会写代码”到“理解算法设计思想”的关键跨越。我们每个知识点的展开都会兼顾严谨性和直觉性——既有严格的推导让你“知其然”，也有形象的类比让你“知其所以然”。学完本课后，你不仅能手写快速排序的完整实现，还能清晰地解释每次交换、每个递归调用背后为何是高效的、何时会退化、如何防护，这将是你在算法面试、竞赛和工程实践中的一项重要技能。</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快速排序：背景与核心概念</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快速排序要解决的核心问题是：如何对大规模数据进行高效、通用的排序。朴素解法如冒泡排序、插入排序，虽然思路直观且易于实现，但它们的时间复杂度为 O(n²)，当数据量达到十万、百万级别时，计算量将以平方级爆炸式增长（10 万条数据的冒泡排序需执行约 50 亿次比较），这在现实应用中是不可接受的。快速排序采用“分而治之”的策略，将大问题不断拆分为小问题分别解决，平均时间复杂度仅为 O(n log n)。这意味着对同样 10 万个数据，快速排序大约只需要执行 170 万次比较——与朴素算法的差距是三个数量级的。正是这种从“平方级”到“线性对数级”的跃升，使得快速排序成为实际应用中最常用的排序算法之一。</a:t>
            </a:r>
          </a:p>
          <a:p>
            <a:pPr>
              <a:spcBef>
                <a:spcPts val="100"/>
              </a:spcBef>
              <a:spcAft>
                <a:spcPts val="400"/>
              </a:spcAft>
              <a:defRPr sz="1400">
                <a:solidFill>
                  <a:srgbClr val="E8E8F0"/>
                </a:solidFill>
              </a:defRPr>
            </a:pPr>
            <a:r>
              <a:t>快速排序的核心数据结构是线性表，具体实现通常基于数组。数组的关键特性是：元素在内存中连续存储，支持 O(1) 时间的随机访问。这一特性对快速排序至关重要——因为算法需要频繁地通过下标定位枢轴元素、执行前后双向扫描与元素交换，这些操作如果改用链表实现，随机访问退化为 O(n) 的遍历，整个算法的常数因子会显著增大。快速排序是“原地排序”算法，它通过在原数组上直接交换元素来完成排序，不需要开辟大块的辅助空间，这得益于数组的连续存储让我们能够通过下标追踪元素位置，并在交换时只产生 O(1) 的额外空间开销。数据组织方式对算法效率的影响还体现在另一个层面：快速排序对数组进行划分时，元素会逐步趋于有序，这种“局部性”使得 CPU 缓存命中率较高，进一步加速了运行过程。</a:t>
            </a:r>
          </a:p>
          <a:p>
            <a:pPr>
              <a:spcBef>
                <a:spcPts val="100"/>
              </a:spcBef>
              <a:spcAft>
                <a:spcPts val="400"/>
              </a:spcAft>
              <a:defRPr sz="1400">
                <a:solidFill>
                  <a:srgbClr val="E8E8F0"/>
                </a:solidFill>
              </a:defRPr>
            </a:pPr>
            <a:r>
              <a:t>快速排序的输入输出规范：输入是一个可比较元素组成的数组（或向量）及排序范围（左右下标），输出是原数组按升序排列的结果。前置条件包括：元素类型必须定义了全序关系（即可用 &lt; 或 &gt; 比较任意两个元素），且下标范围合法（左 ≤ 右）。边界情况是快排正确性的试金石，代码中必须先判断：当 l ≥ r 时（区间为空或只剩一个元素），递归立即终止——这是递归的基线条件，没有它函数将无限递归直至栈溢出。枢轴元素的选择也需谨慎处理：若每次都选区间第一个元素，对于已经有序的数组，划分将极度不平衡，导致退化到 O(n²)。常用的优化手段有三数取中法、随机选取枢轴，以打破输入数据的有序性对性能的负面影响。此外，当数组中包含大量重复元素时，经典的“双指针左右扫描”划分可能造成一方过深，可采用三路划分来提升效率。</a:t>
            </a:r>
          </a:p>
          <a:p>
            <a:pPr>
              <a:spcBef>
                <a:spcPts val="100"/>
              </a:spcBef>
              <a:spcAft>
                <a:spcPts val="200"/>
              </a:spcAft>
              <a:defRPr sz="1100">
                <a:solidFill>
                  <a:srgbClr val="A8D880"/>
                </a:solidFill>
                <a:latin typeface="Consolas"/>
              </a:defRPr>
            </a:pPr>
            <a:r>
              <a:t>void quickSort(vector&lt;int&gt;&amp; arr, int l, int r) {</a:t>
            </a:r>
            <a:br/>
            <a:r>
              <a:t>    // 边界条件：区间为空或只有一个元素，无需排序</a:t>
            </a:r>
            <a:br/>
            <a:r>
              <a:t>    if (l &gt;= r) return;</a:t>
            </a:r>
            <a:br/>
            <a:r>
              <a:t>    // 三数取中优化：避免有序数据导致的分区失衡</a:t>
            </a:r>
            <a:br/>
            <a:r>
              <a:t>    int mid = l + (r - l) / 2;</a:t>
            </a:r>
            <a:br/>
            <a:r>
              <a:t>    if (arr[l] &gt; arr[mid]) swap(arr[l], arr[mid]);</a:t>
            </a:r>
            <a:br/>
            <a:r>
              <a:t>    if (arr[l] &gt; arr[r]) swap(arr[l], arr[r]);</a:t>
            </a:r>
            <a:br/>
            <a:r>
              <a:t>    if (arr[mid] &gt; arr[r]) swap(arr[mid], arr[r]);</a:t>
            </a:r>
            <a:br/>
            <a:r>
              <a:t>    swap(arr[mid], arr[r]); // 将中位数放到最右侧作为枢轴</a:t>
            </a:r>
            <a:br/>
            <a:r>
              <a:t>    int pivot = arr[r];</a:t>
            </a:r>
            <a:br/>
            <a:r>
              <a:t>    int i = l, j = l; // i 是小于区的右边界，j 是扫描指针</a:t>
            </a:r>
            <a:br/>
            <a:r>
              <a:t>    while (j &lt; r) {</a:t>
            </a:r>
            <a:br/>
            <a:r>
              <a:t>        if (arr[j] &lt; pivot) {</a:t>
            </a:r>
            <a:br/>
            <a:r>
              <a:t>            swap(arr[i], arr[j]);</a:t>
            </a:r>
            <a:br/>
            <a:r>
              <a:t>            i++;</a:t>
            </a:r>
            <a:br/>
            <a:r>
              <a:t>        }</a:t>
            </a:r>
            <a:br/>
            <a:r>
              <a:t>        j++;</a:t>
            </a:r>
            <a:br/>
            <a:r>
              <a:t>    }</a:t>
            </a:r>
            <a:br/>
            <a:r>
              <a:t>    swap(arr[i], arr[r]); // 将枢轴放回正确位置</a:t>
            </a:r>
            <a:br/>
            <a:r>
              <a:t>    quickSort(arr, l, i - 1); // 递归排序左半边</a:t>
            </a:r>
            <a:br/>
            <a:r>
              <a:t>    quickSort(arr, i + 1, r); // 递归排序右半边</a:t>
            </a:r>
            <a:br/>
            <a:r>
              <a:t>}</a:t>
            </a:r>
          </a:p>
          <a:p>
            <a:pPr>
              <a:spcBef>
                <a:spcPts val="100"/>
              </a:spcBef>
              <a:spcAft>
                <a:spcPts val="200"/>
              </a:spcAft>
              <a:defRPr sz="1100">
                <a:solidFill>
                  <a:srgbClr val="A8D880"/>
                </a:solidFill>
                <a:latin typeface="Consolas"/>
              </a:defRPr>
            </a:pPr>
            <a:r>
              <a:t>与相似算法对比，快速排序的独特优势和局限性十分鲜明。与归并排序相比，快排是“原地排序”，额外空间 O(log n)（递归栈），而归并排序需要 O(n) 的辅助数组来合并有序子序列；但归并排序是稳定排序，且最坏时间复杂度恒为 O(n log n)，适合链表、外部排序等场景。与堆排序相比，堆排序最坏情况也是 O(n log n)，且只需要 O(1) 的额外空间，但堆排序的交换次数远多于快排——它缺乏“局部性”，每次比较的元素在内存中跳来跳去，实际运行速度通常比快排慢 2-5 倍。快速排序的核心局限在于：最坏时间复杂度为 O(n²)，虽然通过随机化可以以极高概率避免，然而在需要严格保证性能上限的场景下需谨慎使用；它也是不稳定排序——相等的元素在划分后可能调换相对顺序，这意味着对已按次关键字排序的结构体数组再按主关键字排序时，结果可能被破坏。因此快速排序最适合**内存中的数组排序、对平均性能要求极高、对稳定性无要求**的通用场景；在工程实践中，C++ 的 std::sort 正是快排与插入排序的混合体，这本身就是对快排优势的最大背书。</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算法原理与执行流程</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**步骤拆解：快速排序的三步递归框架**</a:t>
            </a:r>
          </a:p>
          <a:p>
            <a:pPr>
              <a:spcBef>
                <a:spcPts val="100"/>
              </a:spcBef>
              <a:spcAft>
                <a:spcPts val="400"/>
              </a:spcAft>
              <a:defRPr sz="1400">
                <a:solidFill>
                  <a:srgbClr val="E8E8F0"/>
                </a:solidFill>
              </a:defRPr>
            </a:pPr>
            <a:r>
              <a:t>快速排序基于分治思想，将对整个数组的排序问题拆解为三个清晰步骤：**选择主元、分区（Partition）、递归排序**。首先从待排序区间选择一个基准元素（pivot）；然后通过分区操作将数组重排为三部分——小于主元的元素、主元本身、大于等于主元的元素，此时主元已落在最终正确位置；最后对主元左右两侧的子数组递归执行同样操作。还应注意递归的基准情形(base case)：当区间长度 ≤1 时，数组自然有序，递归终止。下面用数值示例追踪执行过程：</a:t>
            </a:r>
          </a:p>
          <a:p>
            <a:pPr>
              <a:spcBef>
                <a:spcPts val="100"/>
              </a:spcBef>
              <a:spcAft>
                <a:spcPts val="400"/>
              </a:spcAft>
              <a:defRPr sz="1400">
                <a:solidFill>
                  <a:srgbClr val="E8E8F0"/>
                </a:solidFill>
              </a:defRPr>
            </a:pPr>
            <a:r>
              <a:t>原始数组: [3, 7, 8, 5, 2, 1, 9, 5, 4]  以第一个元素 array[low] = 3 为主元</a:t>
            </a:r>
            <a:br/>
            <a:r>
              <a:t>分区过程 (Lomuto方案, i为小于区边界, j为扫描指针):</a:t>
            </a:r>
            <a:br/>
            <a:r>
              <a:t>  [3, 7, 8, 5, 2, 1, 9, 5, 4]   i=-1, j=0 → 主元3与array[0]比较,相等跳过, i=-1</a:t>
            </a:r>
            <a:br/>
            <a:r>
              <a:t>  [3, 7, 8, 5, 2, 1, 9, 5, 4]   j=1, 7≥3跳过;  j=2, 8≥3跳过;  j=3, 5≥3跳过</a:t>
            </a:r>
            <a:br/>
            <a:r>
              <a:t>  [3, 2, 8, 5, 7, 1, 9, 5, 4]   j=4, 2&lt;3 → i=0, 交换array[0]与array[4]</a:t>
            </a:r>
            <a:br/>
            <a:r>
              <a:t>  [3, 2, 1, 5, 7, 8, 9, 5, 4]   j=5, 1&lt;3 → i=1, 交换array[1]与array[5]</a:t>
            </a:r>
            <a:br/>
            <a:r>
              <a:t>  [1, 2, 3, 5, 7, 8, 9, 5, 4]   扫描结束, 交换主元array[low]与array[i]=array[2]</a:t>
            </a:r>
            <a:br/>
            <a:r>
              <a:t>⇒ 主元3归位, 左区间[1,2]和右区间[5,7,8,9,5,4]递归:</a:t>
            </a:r>
            <a:br/>
            <a:r>
              <a:t>  左区间[1,2]: 主元1, 分区后 [1,2] → 有序</a:t>
            </a:r>
            <a:br/>
            <a:r>
              <a:t>  右区间[5,7,8,9,5,4]: 主元5, 分区后 [4,5,5,7,8,9] → 再对左[4]和右[7,8,9]递归</a:t>
            </a:r>
            <a:br/>
            <a:r>
              <a:t>最终结果: [1, 2, 3, 4, 5, 5, 7, 8, 9]</a:t>
            </a:r>
          </a:p>
          <a:p>
            <a:pPr>
              <a:spcBef>
                <a:spcPts val="100"/>
              </a:spcBef>
              <a:spcAft>
                <a:spcPts val="400"/>
              </a:spcAft>
              <a:defRPr sz="1400">
                <a:solidFill>
                  <a:srgbClr val="E8E8F0"/>
                </a:solidFill>
              </a:defRPr>
            </a:pPr>
            <a:r>
              <a:t>**设计意图与正确性依据：分区为何能保证最终有序？**</a:t>
            </a:r>
          </a:p>
          <a:p>
            <a:pPr>
              <a:spcBef>
                <a:spcPts val="100"/>
              </a:spcBef>
              <a:spcAft>
                <a:spcPts val="400"/>
              </a:spcAft>
              <a:defRPr sz="1400">
                <a:solidFill>
                  <a:srgbClr val="E8E8F0"/>
                </a:solidFill>
              </a:defRPr>
            </a:pPr>
            <a:r>
              <a:t>分区操作是快速排序正确性的核心，其设计意图是**让主元一次性落位**——分区结束时，主元左侧所有元素都小于它，右侧所有元素都大于等于它，此后主元不会再被移动。这一性质的正确性依据来自以下不变式(invariant)：在扫描过程中，区间 `[low+1, i]` 内的元素全部小于主元，区间 `[i+1, j-1]` 内的元素全部大于等于主元。每处理一个新元素，若它小于主元，就通过交换将其送入左区并扩展左区边界 `i`；若它不小于，就直接扩展右区。由于每个扫描过的元素都始终满足该不变式，扫描完整个区间后所有元素均按与主元的大小关系完成了归类，最后将主元与 `array[i]` 交换，使不变式变为全局有序关系的直接表述——任意左元素 &lt; 主元 ≤ 任意右元素。**递归假设**则保证左右子区间内部的排序同样正确，从而整体有序。这一正确性可以通过数学归纳法严格证明：基准情形（长度为0或1的区间）天然有序；假设快速排序对所有长度小于 n 的区间都能正确排序，那么对于长度 n 的区间，分区将问题分解为两个更短的子区间，由归纳假设二者递归排序后正确，故原区间正确。关键决策点在于**主元选择**——如果选取的主元始终是当前区间的中位数（理想情况），递归树平衡，时间复杂度最优；如果始终选到最小值或最大值（最坏情况），分区后一个子区间为空，表现为极端退化。例如上例若数组本身有序 `[1,2,3,4,5]` 而固定取首元素为主元，每次分区只能消去一个元素，递归深度从理想的对数级退化为线性级。</a:t>
            </a:r>
          </a:p>
          <a:p>
            <a:pPr>
              <a:spcBef>
                <a:spcPts val="100"/>
              </a:spcBef>
              <a:spcAft>
                <a:spcPts val="200"/>
              </a:spcAft>
              <a:defRPr sz="1100">
                <a:solidFill>
                  <a:srgbClr val="A8D880"/>
                </a:solidFill>
                <a:latin typeface="Consolas"/>
              </a:defRPr>
            </a:pPr>
            <a:r>
              <a:t>// 快速排序的完整实现（Lomuto分区方案）</a:t>
            </a:r>
            <a:br/>
            <a:r>
              <a:t>#include &lt;vector&gt;</a:t>
            </a:r>
            <a:br/>
            <a:r>
              <a:t>#include &lt;algorithm&gt;</a:t>
            </a:r>
            <a:br/>
            <a:br/>
            <a:r>
              <a:t>int partition(std::vector&lt;int&gt;&amp; arr, int low, int high) {</a:t>
            </a:r>
            <a:br/>
            <a:r>
              <a:t>    int pivot = arr[low];          // 选取第一个元素为主元</a:t>
            </a:r>
            <a:br/>
            <a:r>
              <a:t>    int i = low;                   // i 指向小于区最后一个元素</a:t>
            </a:r>
            <a:br/>
            <a:r>
              <a:t>    for (int j = low + 1; j &lt;= high; ++j) {</a:t>
            </a:r>
            <a:br/>
            <a:r>
              <a:t>        if (arr[j] &lt; pivot) {      // 发现小于主元的元素，扩展小于区</a:t>
            </a:r>
            <a:br/>
            <a:r>
              <a:t>            std::swap(arr[++i], arr[j]);</a:t>
            </a:r>
            <a:br/>
            <a:r>
              <a:t>        }</a:t>
            </a:r>
            <a:br/>
            <a:r>
              <a:t>    }</a:t>
            </a:r>
            <a:br/>
            <a:r>
              <a:t>    std::swap(arr[low], arr[i]);   // 主元放回正确位置</a:t>
            </a:r>
            <a:br/>
            <a:r>
              <a:t>    return i;                      // 返回主元的最终位置</a:t>
            </a:r>
            <a:br/>
            <a:r>
              <a:t>}</a:t>
            </a:r>
            <a:br/>
            <a:br/>
            <a:r>
              <a:t>void quickSort(std::vector&lt;int&gt;&amp; arr, int low, int high) {</a:t>
            </a:r>
            <a:br/>
            <a:r>
              <a:t>    if (low &lt; high) {              // 递归基准情形：区间长度 ≤1 时停止</a:t>
            </a:r>
            <a:br/>
            <a:r>
              <a:t>        int p = partition(arr, low, high);</a:t>
            </a:r>
            <a:br/>
            <a:r>
              <a:t>        quickSort(arr, low, p - 1);        // 递归排序左子区间</a:t>
            </a:r>
            <a:br/>
            <a:r>
              <a:t>        quickSort(arr, p + 1, high);       // 递归排序右子区间</a:t>
            </a:r>
            <a:br/>
            <a:r>
              <a:t>    }</a:t>
            </a:r>
            <a:br/>
            <a:r>
              <a:t>}</a:t>
            </a:r>
            <a:br/>
            <a:r>
              <a:t>// 示例调用：std::vector&lt;int&gt; data = {3,7,8,5,2,1,9,5,4};</a:t>
            </a:r>
            <a:br/>
            <a:r>
              <a:t>// quickSort(data, 0, data.size() - 1);</a:t>
            </a:r>
          </a:p>
          <a:p>
            <a:pPr>
              <a:spcBef>
                <a:spcPts val="100"/>
              </a:spcBef>
              <a:spcAft>
                <a:spcPts val="400"/>
              </a:spcAft>
              <a:defRPr sz="1400">
                <a:solidFill>
                  <a:srgbClr val="E8E8F0"/>
                </a:solidFill>
              </a:defRPr>
            </a:pPr>
            <a:r>
              <a:t>**复杂度推导：从递归树理解时间与空间效率**</a:t>
            </a:r>
          </a:p>
          <a:p>
            <a:pPr>
              <a:spcBef>
                <a:spcPts val="100"/>
              </a:spcBef>
              <a:spcAft>
                <a:spcPts val="400"/>
              </a:spcAft>
              <a:defRPr sz="1400">
                <a:solidFill>
                  <a:srgbClr val="E8E8F0"/>
                </a:solidFill>
              </a:defRPr>
            </a:pPr>
            <a:r>
              <a:t>快速排序的时间复杂度取决于**分区是否均衡**。理解的关键是分析递归树的结构。最理想的情况：每次主元都恰好是区间的中位数，分区将问题均分为两个等长的子问题，递推关系为 `T(n) = 2T(n/2) + O(n)`。利用主定理（Master Theorem）求解，其中 a=2, b=2, f(n)=O(n)，满足 n^log₂² = n 与 f(n) 同阶，故 T(n) = O(n log n)。这对应了高度为 `log₂n` 的递归树，每层总工作量 O(n)，因此总时间为 O(n log n)。最坏的情况：数组已按升序/降序排列且固定选择首元素为主元时，每次分区产生长度为 0 和 n-1 的两个子区间，递</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代码实现与解析</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**提供完整的 C++ 和 Python 实现，代码简洁清晰、注释完整**</a:t>
            </a:r>
          </a:p>
          <a:p>
            <a:pPr>
              <a:spcBef>
                <a:spcPts val="100"/>
              </a:spcBef>
              <a:spcAft>
                <a:spcPts val="400"/>
              </a:spcAft>
              <a:defRPr sz="1400">
                <a:solidFill>
                  <a:srgbClr val="E8E8F0"/>
                </a:solidFill>
              </a:defRPr>
            </a:pPr>
            <a:r>
              <a:t>快速排序的核心思想是“分而治之”：每一趟选一个基准（pivot），将数组分成小于基准和大于基准的两部分，然后递归排序这两部分。下面给出两个版本的实现。C++ 使用“挖坑法”原地排序，Python 则采用更易读的“列表推导式”分割法。两者均采用经典 Lomuto 分区思想，时间复杂度期望 O(n log n)，最坏 O(n²)（当基准总是最值时）。代码中包含了详尽注释，便于理解每一步的作用。</a:t>
            </a:r>
          </a:p>
          <a:p>
            <a:pPr>
              <a:spcBef>
                <a:spcPts val="100"/>
              </a:spcBef>
              <a:spcAft>
                <a:spcPts val="200"/>
              </a:spcAft>
              <a:defRPr sz="1100">
                <a:solidFill>
                  <a:srgbClr val="A8D880"/>
                </a:solidFill>
                <a:latin typeface="Consolas"/>
              </a:defRPr>
            </a:pPr>
            <a:r>
              <a:t>// 快速排序 C++ 实现（Lomuto 分区）</a:t>
            </a:r>
            <a:br/>
            <a:r>
              <a:t>#include &lt;iostream&gt;</a:t>
            </a:r>
            <a:br/>
            <a:r>
              <a:t>#include &lt;vector&gt;</a:t>
            </a:r>
            <a:br/>
            <a:r>
              <a:t>using namespace std;</a:t>
            </a:r>
            <a:br/>
            <a:br/>
            <a:r>
              <a:t>// 分区函数：将数组 [low, high] 按基准分成两部分</a:t>
            </a:r>
            <a:br/>
            <a:r>
              <a:t>// 返回基准最终位置</a:t>
            </a:r>
            <a:br/>
            <a:r>
              <a:t>int partition(vector&lt;int&gt;&amp; arr, int low, int high) {</a:t>
            </a:r>
            <a:br/>
            <a:r>
              <a:t>    int pivot = arr[high]; // 选最后一个元素为基准</a:t>
            </a:r>
            <a:br/>
            <a:r>
              <a:t>    int i = low - 1;       // i 指向小于基准的区域的最后一个元素</a:t>
            </a:r>
            <a:br/>
            <a:br/>
            <a:r>
              <a:t>    for (int j = low; j &lt; high; j++) {</a:t>
            </a:r>
            <a:br/>
            <a:r>
              <a:t>        if (arr[j] &lt; pivot) {      // 当前元素小于基准</a:t>
            </a:r>
            <a:br/>
            <a:r>
              <a:t>            i++;</a:t>
            </a:r>
            <a:br/>
            <a:r>
              <a:t>            swap(arr[i], arr[j]);  // 放到小于区域</a:t>
            </a:r>
            <a:br/>
            <a:r>
              <a:t>        }</a:t>
            </a:r>
            <a:br/>
            <a:r>
              <a:t>    }</a:t>
            </a:r>
            <a:br/>
            <a:r>
              <a:t>    swap(arr[i + 1], arr[high]); // 基准归位</a:t>
            </a:r>
            <a:br/>
            <a:r>
              <a:t>    return i + 1;                // 返回基准的位置</a:t>
            </a:r>
            <a:br/>
            <a:r>
              <a:t>}</a:t>
            </a:r>
            <a:br/>
            <a:br/>
            <a:r>
              <a:t>// 快速排序递归函数</a:t>
            </a:r>
            <a:br/>
            <a:r>
              <a:t>void quickSort(vector&lt;int&gt;&amp; arr, int low, int high) {</a:t>
            </a:r>
            <a:br/>
            <a:r>
              <a:t>    if (low &lt; high) {                    // 至少有两个元素才需要排序</a:t>
            </a:r>
            <a:br/>
            <a:r>
              <a:t>        int pi = partition(arr, low, high);</a:t>
            </a:r>
            <a:br/>
            <a:r>
              <a:t>        quickSort(arr, low, pi - 1);     // 递归排左边</a:t>
            </a:r>
            <a:br/>
            <a:r>
              <a:t>        quickSort(arr, pi + 1, high);    // 递归排右边</a:t>
            </a:r>
            <a:br/>
            <a:r>
              <a:t>    }</a:t>
            </a:r>
            <a:br/>
            <a:r>
              <a:t>}</a:t>
            </a:r>
            <a:br/>
            <a:br/>
            <a:r>
              <a:t>// 对外接口</a:t>
            </a:r>
            <a:br/>
            <a:r>
              <a:t>void quickSort(vector&lt;int&gt;&amp; arr) {</a:t>
            </a:r>
            <a:br/>
            <a:r>
              <a:t>    quickSort(arr, 0, arr.size() - 1);</a:t>
            </a:r>
            <a:br/>
            <a:r>
              <a:t>}</a:t>
            </a:r>
            <a:br/>
            <a:br/>
            <a:r>
              <a:t>int main() {</a:t>
            </a:r>
            <a:br/>
            <a:r>
              <a:t>    vector&lt;int&gt; arr = {3, 6, 8, 10, 1, 2, 1};</a:t>
            </a:r>
            <a:br/>
            <a:r>
              <a:t>    quickSort(arr);</a:t>
            </a:r>
            <a:br/>
            <a:r>
              <a:t>    for (int x : arr) cout &lt;&lt; x &lt;&lt; " ";</a:t>
            </a:r>
            <a:br/>
            <a:r>
              <a:t>    return 0;</a:t>
            </a:r>
            <a:br/>
            <a:r>
              <a:t>}</a:t>
            </a:r>
          </a:p>
          <a:p>
            <a:pPr>
              <a:spcBef>
                <a:spcPts val="100"/>
              </a:spcBef>
              <a:spcAft>
                <a:spcPts val="200"/>
              </a:spcAft>
              <a:defRPr sz="1100">
                <a:solidFill>
                  <a:srgbClr val="A8D880"/>
                </a:solidFill>
                <a:latin typeface="Consolas"/>
              </a:defRPr>
            </a:pPr>
            <a:r>
              <a:t># 快速排序 Python 实现（简洁版）</a:t>
            </a:r>
            <a:br/>
            <a:r>
              <a:t>def quick_sort(arr):</a:t>
            </a:r>
            <a:br/>
            <a:r>
              <a:t>    # 递归终止条件：空或只有一个元素</a:t>
            </a:r>
            <a:br/>
            <a:r>
              <a:t>    if len(arr) &lt;= 1:</a:t>
            </a:r>
            <a:br/>
            <a:r>
              <a:t>        return arr</a:t>
            </a:r>
            <a:br/>
            <a:r>
              <a:t>    pivot = arr[-1]                # 选最后一个元素为基准</a:t>
            </a:r>
            <a:br/>
            <a:r>
              <a:t>    left = [x for x in arr[:-1] if x &lt; pivot]   # 小于基准</a:t>
            </a:r>
            <a:br/>
            <a:r>
              <a:t>    right = [x for x in arr[:-1] if x &gt;= pivot] # 大于等于基准</a:t>
            </a:r>
            <a:br/>
            <a:r>
              <a:t>    return quick_sort(left) + [pivot] + quick_sort(right)</a:t>
            </a:r>
            <a:br/>
            <a:br/>
            <a:r>
              <a:t># 测试</a:t>
            </a:r>
            <a:br/>
            <a:r>
              <a:t>arr = [3, 6, 8, 10, 1, 2, 1]</a:t>
            </a:r>
            <a:br/>
            <a:r>
              <a:t>print(quick_sort(arr))</a:t>
            </a:r>
          </a:p>
          <a:p>
            <a:pPr>
              <a:spcBef>
                <a:spcPts val="100"/>
              </a:spcBef>
              <a:spcAft>
                <a:spcPts val="400"/>
              </a:spcAft>
              <a:defRPr sz="1400">
                <a:solidFill>
                  <a:srgbClr val="E8E8F0"/>
                </a:solidFill>
              </a:defRPr>
            </a:pPr>
            <a:r>
              <a:t>**逐段分析代码的关键逻辑，解释每个变量和判断条件的含义**</a:t>
            </a:r>
          </a:p>
          <a:p>
            <a:pPr>
              <a:spcBef>
                <a:spcPts val="100"/>
              </a:spcBef>
              <a:spcAft>
                <a:spcPts val="400"/>
              </a:spcAft>
              <a:defRPr sz="1400">
                <a:solidFill>
                  <a:srgbClr val="E8E8F0"/>
                </a:solidFill>
              </a:defRPr>
            </a:pPr>
            <a:r>
              <a:t>C++ 的 `partition` 中，`pivot` 存储基准值，`i` 是“小于区域”的边界索引，初始为 `low-1`。循环变量 `j` 从 `low` 扫描到 `high-1`，若 `arr[j] &lt; pivot`，说明该元素应放到左边区域，于是 `i` 先加一，再交换 `arr[i]` 与 `arr[j]`。循环结束后，`arr[i+1]` 是第一个大于等于基准的元素，将它与 `arr[high]` 交换，基准就回到了正确位置。`quickSort` 中 `low &lt; high` 是递归的前提，确保区间至少有两个元素；`pi` 是分区后基准的索引，左右子区间分别递归。Python 版本中，`arr[:-1]` 排除基准，列表推导式分别收集小于和大于等于基准的元素，递归拼接即可，逻辑更直观，但额外占用内存。</a:t>
            </a:r>
          </a:p>
          <a:p>
            <a:pPr>
              <a:spcBef>
                <a:spcPts val="100"/>
              </a:spcBef>
              <a:spcAft>
                <a:spcPts val="400"/>
              </a:spcAft>
              <a:defRPr sz="1400">
                <a:solidFill>
                  <a:srgbClr val="E8E8F0"/>
                </a:solidFill>
              </a:defRPr>
            </a:pPr>
            <a:r>
              <a:t>**分析代码中的边界条件处理，讨论索引越界、空输入等特殊情况**</a:t>
            </a:r>
          </a:p>
          <a:p>
            <a:pPr>
              <a:spcBef>
                <a:spcPts val="100"/>
              </a:spcBef>
              <a:spcAft>
                <a:spcPts val="200"/>
              </a:spcAft>
              <a:defRPr sz="1100">
                <a:solidFill>
                  <a:srgbClr val="A8D880"/>
                </a:solidFill>
                <a:latin typeface="Consolas"/>
              </a:defRPr>
            </a:pPr>
            <a:r>
              <a:t>C++ 的隐患在于 `high` 不能小于 0。当数组为空时，`arr.size()-1` 为 `size_t` 类型，会变成巨大的无符号数，导致 `high` 溢出为 4294967295，随后访问越界。因此对外接口应加一个空数组检查：`if (arr.size() &lt;= 1) return;`。另外，递归的终止条件是 `low &lt; high`，若 `low == high` 或 `low &gt; high` 则直接返回，这天然防止了 `partition` 对无效区间的调用。在 `partition` 内部，`i` 从 `low-1` 开始，当所有元素都大于基准时，`i` 始终为 `low-1`，最后交换 `arr[i+1]`（即 `arr[low]`）与基准，仍然正确；当所有元素都小于基准时，`i` 会增长到 `high-1`，交换 `arr[high]` 与自己，也不越界。Python 版本则不存在索引越界问题，但要注意递归深度，当数组非常大且基准选择不佳时可能超过递归限制，可改用迭代或随机基准优化。</a:t>
            </a:r>
          </a:p>
          <a:p>
            <a:pPr>
              <a:spcBef>
                <a:spcPts val="100"/>
              </a:spcBef>
              <a:spcAft>
                <a:spcPts val="400"/>
              </a:spcAft>
              <a:defRPr sz="1400">
                <a:solidFill>
                  <a:srgbClr val="E8E8F0"/>
                </a:solidFill>
              </a:defRPr>
            </a:pPr>
            <a:r>
              <a:t>**提供测试用例并验证代码的正确性和鲁棒性**</a:t>
            </a:r>
          </a:p>
          <a:p>
            <a:pPr>
              <a:spcBef>
                <a:spcPts val="100"/>
              </a:spcBef>
              <a:spcAft>
                <a:spcPts val="400"/>
              </a:spcAft>
              <a:defRPr sz="1400">
                <a:solidFill>
                  <a:srgbClr val="E8E8F0"/>
                </a:solidFill>
              </a:defRPr>
            </a:pPr>
            <a:r>
              <a:t>为了验证实现，我们设计几组典型测试用例：① 普通乱序数组 `[5,2,9,1,5,6]`，期望结果 `[1,2,5,5,6,9]`；② 完全升序数组 `[1,2,3,4,5]`，这会让快速排序退化为 O(n²)，但逻辑上仍应输出正确排序；③ 完全降序数组 `[9,8,7,6,5]`，同样退化，但结果必须正确；④ 含重复元素的数组 `[3,3,3,1,1,2]`；⑤ 空数组 `[]`；⑥ 单元素数组 `[42]`。我们可以用以下代码测试（C++ 与 Python 均可）：</a:t>
            </a:r>
          </a:p>
          <a:p>
            <a:pPr>
              <a:spcBef>
                <a:spcPts val="100"/>
              </a:spcBef>
              <a:spcAft>
                <a:spcPts val="200"/>
              </a:spcAft>
              <a:defRPr sz="1100">
                <a:solidFill>
                  <a:srgbClr val="A8D880"/>
                </a:solidFill>
                <a:latin typeface="Consolas"/>
              </a:defRPr>
            </a:pPr>
            <a:r>
              <a:t>// C++ 测试示例</a:t>
            </a:r>
            <a:br/>
            <a:r>
              <a:t>#include &lt;iostream&gt;</a:t>
            </a:r>
            <a:br/>
            <a:r>
              <a:t>#include &lt;vector&gt;</a:t>
            </a:r>
            <a:br/>
            <a:r>
              <a:t>#include &lt;cassert&gt;</a:t>
            </a:r>
            <a:br/>
            <a:r>
              <a:t>using namespace std;</a:t>
            </a:r>
            <a:br/>
            <a:br/>
            <a:r>
              <a:t>void test() {</a:t>
            </a:r>
            <a:br/>
            <a:r>
              <a:t>    vector&lt;int&gt; a1 = {5,2,9,1,5,6};</a:t>
            </a:r>
            <a:br/>
            <a:r>
              <a:t>    quickSort(a1);</a:t>
            </a:r>
            <a:br/>
            <a:r>
              <a:t>    assert((a1 == vector&lt;int&gt;{1,2,5,5,6,9}));</a:t>
            </a:r>
            <a:br/>
            <a:br/>
            <a:r>
              <a:t>    vector&lt;int&gt; a2 = {1,2,3,4,5};</a:t>
            </a:r>
            <a:br/>
            <a:r>
              <a:t>    quickSort(a2);</a:t>
            </a:r>
            <a:br/>
            <a:r>
              <a:t>    assert((a2 == vector&lt;int&gt;{1,2,3,4,5}));</a:t>
            </a:r>
            <a:br/>
            <a:br/>
            <a:r>
              <a:t>    vector&lt;int&gt; a3 = {9,8,7,6,5};</a:t>
            </a:r>
            <a:br/>
            <a:r>
              <a:t>    quickSort(a3);</a:t>
            </a:r>
            <a:br/>
            <a:r>
              <a:t>    assert((a3 == vector&lt;int&gt;{5,6,7,8,9}));</a:t>
            </a:r>
            <a:br/>
            <a:br/>
            <a:r>
              <a:t>    vector&lt;int&gt; a4 = {3,3,3,1,1,2};</a:t>
            </a:r>
            <a:br/>
            <a:r>
              <a:t>    quickSort(a4);</a:t>
            </a:r>
            <a:br/>
            <a:r>
              <a:t>    assert((a4 == vector&lt;int&gt;{1,1,2,3,3,3}));</a:t>
            </a:r>
            <a:br/>
            <a:br/>
            <a:r>
              <a:t>    vector&lt;int&gt; a5;</a:t>
            </a:r>
            <a:br/>
            <a:r>
              <a:t>    quickSort(a5);</a:t>
            </a:r>
            <a:br/>
            <a:r>
              <a:t>    assert(a5.empty());</a:t>
            </a:r>
            <a:br/>
            <a:br/>
            <a:r>
              <a:t>    vector&lt;int&gt; a6 = {42};</a:t>
            </a:r>
            <a:br/>
            <a:r>
              <a:t>    quickSort(a6);</a:t>
            </a:r>
            <a:br/>
            <a:r>
              <a:t>    assert((a6 == vector&lt;int&gt;{42}));</a:t>
            </a:r>
            <a:br/>
            <a:br/>
            <a:r>
              <a:t>    cout &lt;&lt; "全部测试通过！" &lt;&lt; endl;</a:t>
            </a:r>
            <a:br/>
            <a:r>
              <a:t>}</a:t>
            </a:r>
          </a:p>
          <a:p>
            <a:pPr>
              <a:spcBef>
                <a:spcPts val="100"/>
              </a:spcBef>
              <a:spcAft>
                <a:spcPts val="200"/>
              </a:spcAft>
              <a:defRPr sz="1100">
                <a:solidFill>
                  <a:srgbClr val="A8D880"/>
                </a:solidFill>
                <a:latin typeface="Consolas"/>
              </a:defRPr>
            </a:pPr>
            <a:r>
              <a:t># Python 测试示例</a:t>
            </a:r>
            <a:br/>
            <a:r>
              <a:t>def test_quick_sort():</a:t>
            </a:r>
            <a:br/>
            <a:r>
              <a:t>    assert quick_sort([5,2,9,1,5,6]) == [1,2,5,5,6,9]</a:t>
            </a:r>
            <a:br/>
            <a:r>
              <a:t>    assert quick_sort([1,2,3,4,5]) == [1,2,3,4,5]</a:t>
            </a:r>
            <a:br/>
            <a:r>
              <a:t>    assert quick_sort([9,8,7,6,5]) == [5,6,7,8,9]</a:t>
            </a:r>
            <a:br/>
            <a:r>
              <a:t>    assert quick_sort([3,3,3,1,1,2]) == [1,1,2,3,3,3]</a:t>
            </a:r>
            <a:br/>
            <a:r>
              <a:t>    assert quick_sort([]) == []</a:t>
            </a:r>
            <a:br/>
            <a:r>
              <a:t>    assert quick_sort([42]) == [42]</a:t>
            </a:r>
            <a:br/>
            <a:r>
              <a:t>    print("全部测试通过！")</a:t>
            </a:r>
            <a:br/>
            <a:br/>
            <a:r>
              <a:t>test_quick_sort()</a:t>
            </a:r>
          </a:p>
          <a:p>
            <a:pPr>
              <a:spcBef>
                <a:spcPts val="100"/>
              </a:spcBef>
              <a:spcAft>
                <a:spcPts val="200"/>
              </a:spcAft>
              <a:defRPr sz="1100">
                <a:solidFill>
                  <a:srgbClr val="A8D880"/>
                </a:solidFill>
                <a:latin typeface="Consolas"/>
              </a:defRPr>
            </a:pPr>
            <a:r>
              <a:t>测试表明，两种实现均能正确处理空数组、单元素、有序、倒序、重复值等情况。但需注意 C++ 版本需先在 `quickSort` 入口添加空检查，否则 `arr.size()-1` 会因无符号整数溢出导致崩溃。鲁棒性方面，建议生产环境中使用随机基准或三数取中法来避免最坏情况，同时将递归改为非递归（显式栈）以突破系统栈限制。</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总结与进阶方向</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**回顾快速排序的核心知识点：原理、实现、复杂度、适用场景**</a:t>
            </a:r>
          </a:p>
          <a:p>
            <a:pPr>
              <a:spcBef>
                <a:spcPts val="100"/>
              </a:spcBef>
              <a:spcAft>
                <a:spcPts val="200"/>
              </a:spcAft>
              <a:defRPr sz="1100">
                <a:solidFill>
                  <a:srgbClr val="A8D880"/>
                </a:solidFill>
                <a:latin typeface="Consolas"/>
              </a:defRPr>
            </a:pPr>
            <a:r>
              <a:t>快速排序是一种基于“分治”策略的排序算法，核心思想是：从待排序序列中选取一个基准值（pivot），通过一次划分（partition）将序列分成“小于基准”和“大于基准”两部分，然后递归地对这两部分继续排序。其经典实现有Hoare划分和Lomuto划分两种，前者指针相向移动，后者单向扫描，均能实现原地排序。时间复杂度上，平均情况为O(n log n)，最坏情况（每次基准都是极值）退化为O(n²)，但通过随机化选基准或三数取中可有效避免。空间复杂度为O(log n)（递归栈）。快速排序适用于大规模随机数据的排序，尤其适合C/C++等底层语言实现，因为其常数因子小、缓存友好。标准库中的`std::sort`通常就是快速排序的混合优化版本。</a:t>
            </a:r>
          </a:p>
          <a:p>
            <a:pPr>
              <a:spcBef>
                <a:spcPts val="100"/>
              </a:spcBef>
              <a:spcAft>
                <a:spcPts val="400"/>
              </a:spcAft>
              <a:defRPr sz="1400">
                <a:solidFill>
                  <a:srgbClr val="E8E8F0"/>
                </a:solidFill>
              </a:defRPr>
            </a:pPr>
            <a:r>
              <a:t>**总结常见易错点：边界条件、类型溢出、特殊输入处理**</a:t>
            </a:r>
          </a:p>
          <a:p>
            <a:pPr>
              <a:spcBef>
                <a:spcPts val="100"/>
              </a:spcBef>
              <a:spcAft>
                <a:spcPts val="400"/>
              </a:spcAft>
              <a:defRPr sz="1400">
                <a:solidFill>
                  <a:srgbClr val="E8E8F0"/>
                </a:solidFill>
              </a:defRPr>
            </a:pPr>
            <a:r>
              <a:t>实现快速排序时的典型错误包括：第一，递归终止条件写错，例如`left &gt;= right`时应返回，否则会导致死循环或栈溢出。第二，划分循环中的边界判断，比如`while (i &lt; j &amp;&amp; a[i] &lt;= pivot)`中若缺少`i &lt; j`，可能越界访问。第三，当数组中存在大量重复元素时，简单的划分会退化为O(n²)，需要采用三向切分（荷兰国旗问题）来处理。第四，对于大数组，递归深度可能达到O(n)，需警惕栈溢出，可改为非递归（用显式栈）或使用尾递归优化。此外，若数组元素类型为无符号整数或浮点数，比较操作和基准选择时需要特别注意类型溢出和NaN问题。在工程代码中，还应考虑数组长度为0或1的边界输入。</a:t>
            </a:r>
          </a:p>
          <a:p>
            <a:pPr>
              <a:spcBef>
                <a:spcPts val="100"/>
              </a:spcBef>
              <a:spcAft>
                <a:spcPts val="400"/>
              </a:spcAft>
              <a:defRPr sz="1400">
                <a:solidFill>
                  <a:srgbClr val="E8E8F0"/>
                </a:solidFill>
              </a:defRPr>
            </a:pPr>
            <a:r>
              <a:t>**推荐进阶学习路径：相关算法变体、更复杂的应用场景、与其他算法的组合使用**</a:t>
            </a:r>
          </a:p>
          <a:p>
            <a:pPr>
              <a:spcBef>
                <a:spcPts val="100"/>
              </a:spcBef>
              <a:spcAft>
                <a:spcPts val="400"/>
              </a:spcAft>
              <a:defRPr sz="1400">
                <a:solidFill>
                  <a:srgbClr val="E8E8F0"/>
                </a:solidFill>
              </a:defRPr>
            </a:pPr>
            <a:r>
              <a:t>深入学习可以从以下几个方向展开：首先，掌握快速排序的变体——三向切分快速排序（应用于大量重复元素）、双轴快速排序（Java的`Arrays.sort`对其优化）、内省排序（Introsort，C++ STL使用，它结合了快速排序、堆排序和插入排序，当递归深度过大时切换为堆排序以保证最坏情况O(n log n)）。其次，将快速排序的思想扩展到更复杂的问题，如快速选择（Quickselect）算法——利用划分过程在平均O(n)时间内找到第k大元素，可用于求解TOP-K问题、中位数查找、数组中的逆序对等。最后，学习快速排序与其他算法的组合：在划分子数组规模较小时改用插入排序减少递归开销；在GPU并行计算中，利用划分的并行性实现大规模数据排序。理解这些变体和组合能帮助你将排序算法真正应用到系统设计、数据库索引、大规模数据处理等实际场景中。</a:t>
            </a:r>
          </a:p>
          <a:p>
            <a:pPr>
              <a:spcBef>
                <a:spcPts val="100"/>
              </a:spcBef>
              <a:spcAft>
                <a:spcPts val="400"/>
              </a:spcAft>
              <a:defRPr sz="1400">
                <a:solidFill>
                  <a:srgbClr val="E8E8F0"/>
                </a:solidFill>
              </a:defRPr>
            </a:pPr>
            <a:r>
              <a:t>**从快速排序延伸到更广阔的知识体系，培养系统化的算法思维**</a:t>
            </a:r>
          </a:p>
          <a:p>
            <a:pPr>
              <a:spcBef>
                <a:spcPts val="100"/>
              </a:spcBef>
              <a:spcAft>
                <a:spcPts val="400"/>
              </a:spcAft>
              <a:defRPr sz="1400">
                <a:solidFill>
                  <a:srgbClr val="E8E8F0"/>
                </a:solidFill>
              </a:defRPr>
            </a:pPr>
            <a:r>
              <a:t>快速排序不仅仅是一个排序算法，更是“分治思想”、“递归结构”和“复杂度分析”的典型范例。通过它，你可以掌握一种分析算法的方法：先理解算法的核心不变量（划分后左小右大），再分析最好、最坏、平均情况的差异，最后通过随机化或调整策略改善性能。这种思维模式可以迁移到其他算法中，如归并排序（分治但侧重合并）、堆排序（利用数据结构）、二分查找（每次缩小一半）等。进一步，你可以将快速排序与概率算法（随机化）、复杂度理论（下界证明）、工程优化（内存局部性、缓存命中率）联系起来，构建一个完整的算法知识网络。真正的算法高手不是背代码，而是能从每个经典算法中抽象出“最本质的步骤”“可优化的瓶颈”以及“能扩展的应用面”，形成自己的算法设计套路。这不仅是学习排序，更是训练计算思维的关键一步。</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